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photograph in, a walkable environment out. Everything you'll see is derived from the single image at the bottom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Mount Rainier is the running example for the whole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difficulty isn't one hard sub-problem; it's the interaction of several.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gap the project targets — decomposition, not fidelity.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Forcing all of these through one representation means accepting the weakest common denominator.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tracks. Solid arrows carry geometry, dashed carry semantics. Three panorama variants are maintained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downstream consumes this, a depth map aligned to it, and a per-pixel semantic 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clearest example of compounding error in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ObjectClear removes objects together with their shadows and reflections. The flowers aren't discarded — they come back as a ground-cover population.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Smooth is correct as an estimator and wrong as terrain.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clearest example of an assumption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radial pinwheel in this baked texture is upright meadow content drawn out along the rays of the projection.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Cards exist because single-view reconstruction of a conifer returns a sheet, and a camera-facing quad swings as the head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Placing only what was detected leaves the eye reading the sampling pattern rather than the meadow.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Render a photograph under a second estimated light and you double the illumination — the result reads flat and over-exposed.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Independent oscillators are cheaper and read as obviously synthetic — nothing in a real landscape moves without its neighbours moving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Rainier: 128 meshes, 9303 cards. Paris: 27 meshes. Shark Fin: 0 meshes.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corrective measures table in the report reports effects across all three captures, because the risk is regression on scenes already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generative system returns something viewable. It does not return a collidable surface or a mesh with a skeleton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That's an encouraging place to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norama.jpg"/>
          <p:cNvPicPr>
            <a:picLocks noChangeAspect="1"/>
          </p:cNvPicPr>
          <p:nvPr/>
        </p:nvPicPr>
        <p:blipFill>
          <a:blip r:embed="rId2"/>
          <a:srcRect t="20000" b="19000"/>
          <a:stretch>
            <a:fillRect/>
          </a:stretch>
        </p:blipFill>
        <p:spPr>
          <a:xfrm>
            <a:off x="0" y="3566160"/>
            <a:ext cx="12191695" cy="3291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051560"/>
            <a:ext cx="10874959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600" b="1">
                <a:solidFill>
                  <a:srgbClr val="1A1A1A"/>
                </a:solidFill>
                <a:latin typeface="Helvetica Neue"/>
              </a:rPr>
              <a:t>Jumping Into the 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1087495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Helvetica Neue"/>
              </a:rPr>
              <a:t>Reconstructing Interactive, Physically-Grounded 3D Environments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0">
                <a:solidFill>
                  <a:srgbClr val="666666"/>
                </a:solidFill>
                <a:latin typeface="Helvetica Neue"/>
              </a:rPr>
              <a:t>from a Single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880360"/>
            <a:ext cx="1087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666666"/>
                </a:solidFill>
                <a:latin typeface="Helvetica Neue"/>
              </a:rPr>
              <a:t>Joshua Ford      ·      Advisor: Marie-Paule Cani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A photograph is not a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6035040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Recovering 3D from one view is underconstrained: infinitely many scenes project to the same image.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People read a photograph as a place anyway. We infer that the ground continues past the frame, that the occluded side of a rock exists, that the flowers are individual plants.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Photographs are among the most abundant records of place we have.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The goal: an environment you can jump into, not a picture you can orbit.</a:t>
            </a:r>
          </a:p>
        </p:txBody>
      </p:sp>
      <p:pic>
        <p:nvPicPr>
          <p:cNvPr id="5" name="Picture 4" descr="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5567" y="1801368"/>
            <a:ext cx="4937760" cy="332064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THE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Four problems that compound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Extreme ill-posedness.  </a:t>
            </a:r>
            <a:r>
              <a:rPr sz="1700">
                <a:solidFill>
                  <a:srgbClr val="666666"/>
                </a:solidFill>
                <a:latin typeface="Helvetica Neue"/>
              </a:rPr>
              <a:t>~5/6 of the sphere is never observed, and everything behind every foreground object is unknown.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Compounding error.  </a:t>
            </a:r>
            <a:r>
              <a:rPr sz="1700">
                <a:solidFill>
                  <a:srgbClr val="666666"/>
                </a:solidFill>
                <a:latin typeface="Helvetica Neue"/>
              </a:rPr>
              <a:t>Depth → geometry → materials → objects. A discrepancy invisible at one stage is structural by the next.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Heterogeneous content.  </a:t>
            </a:r>
            <a:r>
              <a:rPr sz="1700">
                <a:solidFill>
                  <a:srgbClr val="666666"/>
                </a:solidFill>
                <a:latin typeface="Helvetica Neue"/>
              </a:rPr>
              <a:t>A height field suits a mountainside, a mesh a tree, a scattered population a meadow, an animated surface the sea — and they must share one coordinate frame, scale and lighting.</a:t>
            </a:r>
          </a:p>
          <a:p>
            <a:pPr>
              <a:lnSpc>
                <a:spcPct val="118000"/>
              </a:lnSpc>
              <a:spcAft>
                <a:spcPts val="16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Interactivity budget.  </a:t>
            </a:r>
            <a:r>
              <a:rPr sz="1700">
                <a:solidFill>
                  <a:srgbClr val="666666"/>
                </a:solidFill>
                <a:latin typeface="Helvetica Neue"/>
              </a:rPr>
              <a:t>Stereo rendering at headset frame rates constrains every choice, hardest on the animated elements that make it interactive.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Prior work stops at viewable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81360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Single-image scene generation has advanced fast: CubeDiff, DreamCube, PanoDreamer, LayerPano3D, WorldGen, SphericalDreamer.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These optimise visual fidelity from viewpoints near the original camera.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The output is a panorama, a layered mesh, or a radiance field — something to look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30168"/>
            <a:ext cx="10881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C0501E"/>
                </a:solidFill>
                <a:latin typeface="Helvetica Neue"/>
              </a:rPr>
              <a:t>What none of them return: a collidable surface, a population whose density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C0501E"/>
                </a:solidFill>
                <a:latin typeface="Helvetica Neue"/>
              </a:rPr>
              <a:t>can be sampled, a water plane separable from its bed, or a mesh with a skeleton.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One idea: reconstruct by physical role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Helvetica Neue"/>
              </a:rPr>
              <a:t>A scene is not one thing. Ground, discrete objects, ground cover, water and sky differ in how they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0">
                <a:solidFill>
                  <a:srgbClr val="1A1A1A"/>
                </a:solidFill>
                <a:latin typeface="Helvetica Neue"/>
              </a:rPr>
              <a:t>must be reconstructed, represented, textured, and how they behave at runtime.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487168"/>
            <a:ext cx="10874959" cy="3913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Terrain  </a:t>
            </a:r>
            <a:r>
              <a:rPr sz="1700">
                <a:solidFill>
                  <a:srgbClr val="666666"/>
                </a:solidFill>
                <a:latin typeface="Helvetica Neue"/>
              </a:rPr>
              <a:t>a continuous height field carrying collision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Objects  </a:t>
            </a:r>
            <a:r>
              <a:rPr sz="1700">
                <a:solidFill>
                  <a:srgbClr val="666666"/>
                </a:solidFill>
                <a:latin typeface="Helvetica Neue"/>
              </a:rPr>
              <a:t>discrete meshes, reconstructed once per appearance group and instanced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Ground cover  </a:t>
            </a:r>
            <a:r>
              <a:rPr sz="1700">
                <a:solidFill>
                  <a:srgbClr val="666666"/>
                </a:solidFill>
                <a:latin typeface="Helvetica Neue"/>
              </a:rPr>
              <a:t>a scattered population, too numerous to place individually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Water  </a:t>
            </a:r>
            <a:r>
              <a:rPr sz="1700">
                <a:solidFill>
                  <a:srgbClr val="666666"/>
                </a:solidFill>
                <a:latin typeface="Helvetica Neue"/>
              </a:rPr>
              <a:t>a separate levelled surface with an animated shader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Motion  </a:t>
            </a:r>
            <a:r>
              <a:rPr sz="1700">
                <a:solidFill>
                  <a:srgbClr val="666666"/>
                </a:solidFill>
                <a:latin typeface="Helvetica Neue"/>
              </a:rPr>
              <a:t>per-object animation, rigid bodies or anchored sway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Sky  </a:t>
            </a:r>
            <a:r>
              <a:rPr sz="1700">
                <a:solidFill>
                  <a:srgbClr val="666666"/>
                </a:solidFill>
                <a:latin typeface="Helvetica Neue"/>
              </a:rPr>
              <a:t>skybox and image-based lighting source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42 STAGES, 38 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The pipeline</a:t>
            </a:r>
          </a:p>
        </p:txBody>
      </p:sp>
      <p:pic>
        <p:nvPicPr>
          <p:cNvPr id="4" name="Picture 3" descr="pipeline-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483" y="1389888"/>
            <a:ext cx="645072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THE PANORAMIC 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One photograph becomes a sphere</a:t>
            </a:r>
          </a:p>
        </p:txBody>
      </p:sp>
      <p:pic>
        <p:nvPicPr>
          <p:cNvPr id="4" name="Picture 3" descr="inp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3535226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3950208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Input: ~1/6 of the sphere</a:t>
            </a:r>
          </a:p>
        </p:txBody>
      </p:sp>
      <p:pic>
        <p:nvPicPr>
          <p:cNvPr id="6" name="Picture 5" descr="panoram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8447" y="1481328"/>
            <a:ext cx="4754880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78447" y="3950208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Generated panorama: the other ~83% is synthesised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81728"/>
            <a:ext cx="10874959" cy="171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WorldGen by default; FLUX, CubeDiff and DreamCube are interchangeable backends.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The panorama is an intermediate representation, not the deliverable.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THE PANORAMIC 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Depth is relative — calibration makes it metric</a:t>
            </a:r>
          </a:p>
        </p:txBody>
      </p:sp>
      <p:pic>
        <p:nvPicPr>
          <p:cNvPr id="4" name="Picture 3" descr="depth-calibr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5669280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93408" y="1481328"/>
            <a:ext cx="4839919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Panoramic depth is relative. We fit a monotonic curve against Depth Anything 3 on the original photo, over the region it actually observed.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14 quantile bins, median knots, running-maximum monotonicity.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Beyond the fitted range we extrapolate in log-depth, capped at 20×.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590288"/>
            <a:ext cx="108749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0501E"/>
                </a:solidFill>
                <a:latin typeface="Helvetica Neue"/>
              </a:rPr>
              <a:t>The result is angularly faithful but metrically compressed. Near distances are accurate;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0501E"/>
                </a:solidFill>
                <a:latin typeface="Helvetica Neue"/>
              </a:rPr>
              <a:t>far ones are systematically shrunk — and object size, computed as angular extent × depth,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0501E"/>
                </a:solidFill>
                <a:latin typeface="Helvetica Neue"/>
              </a:rPr>
              <a:t>inherits that shrinkage. A defect that surfaces eight stages later.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THE PANORAMIC SUBSTRATE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Two panoramas, because they answer different questions</a:t>
            </a:r>
          </a:p>
        </p:txBody>
      </p:sp>
      <p:pic>
        <p:nvPicPr>
          <p:cNvPr id="4" name="Picture 3" descr="panorama.jpg"/>
          <p:cNvPicPr>
            <a:picLocks noChangeAspect="1"/>
          </p:cNvPicPr>
          <p:nvPr/>
        </p:nvPicPr>
        <p:blipFill>
          <a:blip r:embed="rId2"/>
          <a:srcRect t="50000" b="15000"/>
          <a:stretch>
            <a:fillRect/>
          </a:stretch>
        </p:blipFill>
        <p:spPr>
          <a:xfrm>
            <a:off x="883767" y="1481328"/>
            <a:ext cx="10424160" cy="18242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3767" y="3360420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Original — what the scene contains</a:t>
            </a:r>
          </a:p>
        </p:txBody>
      </p:sp>
      <p:pic>
        <p:nvPicPr>
          <p:cNvPr id="6" name="Picture 5" descr="panorama-object-removed.jpg"/>
          <p:cNvPicPr>
            <a:picLocks noChangeAspect="1"/>
          </p:cNvPicPr>
          <p:nvPr/>
        </p:nvPicPr>
        <p:blipFill>
          <a:blip r:embed="rId3"/>
          <a:srcRect t="50000" b="15000"/>
          <a:stretch>
            <a:fillRect/>
          </a:stretch>
        </p:blipFill>
        <p:spPr>
          <a:xfrm>
            <a:off x="883767" y="3781044"/>
            <a:ext cx="10424160" cy="18242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3767" y="5660136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Object-removed — what the ground looks like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062472"/>
            <a:ext cx="10874959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Depth taken from the original would place the flower canopy, not the ground, at the bottom of the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height field. Geometry reads the object-removed panorama; semantics reads the original.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TERRAIN GEOMETRY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Completing terrain that was never seen</a:t>
            </a:r>
          </a:p>
        </p:txBody>
      </p:sp>
      <p:pic>
        <p:nvPicPr>
          <p:cNvPr id="4" name="Picture 3" descr="heightmap-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3490874" cy="34908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5045354"/>
            <a:ext cx="349087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Projected observations — 7% of the grid</a:t>
            </a:r>
          </a:p>
        </p:txBody>
      </p:sp>
      <p:pic>
        <p:nvPicPr>
          <p:cNvPr id="6" name="Picture 5" descr="heightmap-reconstru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0410" y="1481328"/>
            <a:ext cx="3490874" cy="34908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50410" y="5045354"/>
            <a:ext cx="349087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Harmonic completion</a:t>
            </a:r>
          </a:p>
        </p:txBody>
      </p:sp>
      <p:pic>
        <p:nvPicPr>
          <p:cNvPr id="8" name="Picture 7" descr="heightmap-er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2452" y="1481328"/>
            <a:ext cx="3490874" cy="34908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2452" y="5045354"/>
            <a:ext cx="349087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Fluvial erosion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539130"/>
            <a:ext cx="10874959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Measured cells become Dirichlet boundary conditions and are never modified. The unknown region is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the smoothest surface consistent with them — then Landlab's fluvial incision gives it drainage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structure, so invented relief is shaped by the process that shapes real landscapes.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TERRAIN — THE KEY ASSUMPTION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The sky boundary is assumed to be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5852160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Past a few hundred metres the depth model has saturated. The silhouette is the only signal left.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For each panorama column, the first non-sky pixel gives an elevation angle, placed at a fixed radius.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This works whenever the horizon really is a landform.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67328"/>
            <a:ext cx="5852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1">
                <a:solidFill>
                  <a:srgbClr val="C0501E"/>
                </a:solidFill>
                <a:latin typeface="Helvetica Neue"/>
              </a:rPr>
              <a:t>In Paris the horizon is a roofline 40 m away.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1">
                <a:solidFill>
                  <a:srgbClr val="C0501E"/>
                </a:solidFill>
                <a:latin typeface="Helvetica Neue"/>
              </a:rPr>
              <a:t>A flat height field (−6.0 m to −0.2 m) became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1">
                <a:solidFill>
                  <a:srgbClr val="C0501E"/>
                </a:solidFill>
                <a:latin typeface="Helvetica Neue"/>
              </a:rPr>
              <a:t>−13.1 m to +70.9 m: a hill on the cathedral.</a:t>
            </a:r>
          </a:p>
        </p:txBody>
      </p:sp>
      <p:pic>
        <p:nvPicPr>
          <p:cNvPr id="6" name="Picture 5" descr="paris-ter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8367" y="1664208"/>
            <a:ext cx="5394960" cy="290098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38367" y="4656629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Paris height field: measured (left) vs after ridge-anchored reconstruction (right)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TERRAIN APPEARANCE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Projecting the photo onto the ground fails</a:t>
            </a:r>
          </a:p>
        </p:txBody>
      </p:sp>
      <p:pic>
        <p:nvPicPr>
          <p:cNvPr id="4" name="Picture 3" descr="tile-terra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773168" y="1481328"/>
            <a:ext cx="6760159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Grazing incidence.  </a:t>
            </a:r>
            <a:r>
              <a:rPr sz="1600">
                <a:solidFill>
                  <a:srgbClr val="666666"/>
                </a:solidFill>
                <a:latin typeface="Helvetica Neue"/>
              </a:rPr>
              <a:t>At 80 m one panorama row covers ~12 m of ground. The result is radial smearing.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Upright content.  </a:t>
            </a:r>
            <a:r>
              <a:rPr sz="1600">
                <a:solidFill>
                  <a:srgbClr val="666666"/>
                </a:solidFill>
                <a:latin typeface="Helvetica Neue"/>
              </a:rPr>
              <a:t>A 0.5 m flower spans a range of elevations, each landing at a different radius — one flower becomes a streak metres long.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The fix.  </a:t>
            </a:r>
            <a:r>
              <a:rPr sz="1600">
                <a:solidFill>
                  <a:srgbClr val="666666"/>
                </a:solidFill>
                <a:latin typeface="Helvetica Neue"/>
              </a:rPr>
              <a:t>A layered splat material: real photographic colour where projection is trustworthy, pattern-textured real material where it is not, generated tiles only as a last resort.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OBJECT DECOMPOSITION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Detect, cluster, reconstruct once, instance everywhere</a:t>
            </a:r>
          </a:p>
        </p:txBody>
      </p:sp>
      <p:pic>
        <p:nvPicPr>
          <p:cNvPr id="4" name="Picture 3" descr="clust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407" y="1481328"/>
            <a:ext cx="475488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133088"/>
            <a:ext cx="10874959" cy="2267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SAM 2 segments the full 360°; CLIP classifies; Grounding DINO verifies by having to find the label in the crop.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DINOv2 sub-clusters each class into appearance variants. One mesh per (class, bucket) group, instanced at every member.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Three representations:  </a:t>
            </a:r>
            <a:r>
              <a:rPr sz="1600">
                <a:solidFill>
                  <a:srgbClr val="666666"/>
                </a:solidFill>
                <a:latin typeface="Helvetica Neue"/>
              </a:rPr>
              <a:t>reconstructed mesh → crossed card (3 fixed planes) → camera-facing billboard, chosen on projected angular size.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POPULATION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A detector finds tens of flowers in a meadow of thousands</a:t>
            </a:r>
          </a:p>
        </p:txBody>
      </p:sp>
      <p:pic>
        <p:nvPicPr>
          <p:cNvPr id="4" name="Picture 3" descr="synthesis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5487" y="1481328"/>
            <a:ext cx="2834640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4407408"/>
            <a:ext cx="5208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66666"/>
                </a:solidFill>
                <a:latin typeface="Helvetica Neue"/>
              </a:rPr>
              <a:t>Synthesised tree population</a:t>
            </a:r>
          </a:p>
        </p:txBody>
      </p:sp>
      <p:pic>
        <p:nvPicPr>
          <p:cNvPr id="6" name="Picture 5" descr="grass-ar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1566" y="1481328"/>
            <a:ext cx="2834640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4407408"/>
            <a:ext cx="52088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666666"/>
                </a:solidFill>
                <a:latin typeface="Helvetica Neue"/>
              </a:rPr>
              <a:t>Ground-cover mask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864608"/>
            <a:ext cx="10874959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Synthesis  </a:t>
            </a:r>
            <a:r>
              <a:rPr sz="1600">
                <a:solidFill>
                  <a:srgbClr val="666666"/>
                </a:solidFill>
                <a:latin typeface="Helvetica Neue"/>
              </a:rPr>
              <a:t>measures the pair-correlation statistics of real detections and matches them elsewhere — a point process, not a fixed density.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Ground cover  </a:t>
            </a:r>
            <a:r>
              <a:rPr sz="1600">
                <a:solidFill>
                  <a:srgbClr val="666666"/>
                </a:solidFill>
                <a:latin typeface="Helvetica Neue"/>
              </a:rPr>
              <a:t>has no discrete instances to generalise from. It is scattered over a mask, vetoed by excess-green so snowfields don't become meadow.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LIGHTING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Estimate the light, then remove it from every asset</a:t>
            </a:r>
          </a:p>
        </p:txBody>
      </p:sp>
      <p:pic>
        <p:nvPicPr>
          <p:cNvPr id="4" name="Picture 3" descr="lighting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4754880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395020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Estimated HDR environment (log scale)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61888" y="1481328"/>
            <a:ext cx="5571439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LuxDiT recovers an HDR environment and a dominant light direction.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Every asset is cut from a photograph, so it already carries the light of the moment it was taken.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IntrinsicDiffusion separates albedo from shading, so the client relights material colour rather than a photograph.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This is what makes assets portable: an instance rarely sits where it was photographed.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ANIMATION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Motion from a generated video</a:t>
            </a:r>
          </a:p>
        </p:txBody>
      </p:sp>
      <p:pic>
        <p:nvPicPr>
          <p:cNvPr id="4" name="Picture 3" descr="motion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1156716" cy="1792909"/>
          </a:xfrm>
          <a:prstGeom prst="rect">
            <a:avLst/>
          </a:prstGeom>
        </p:spPr>
      </p:pic>
      <p:pic>
        <p:nvPicPr>
          <p:cNvPr id="5" name="Picture 4" descr="motion-5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6" y="1481328"/>
            <a:ext cx="1156716" cy="1792909"/>
          </a:xfrm>
          <a:prstGeom prst="rect">
            <a:avLst/>
          </a:prstGeom>
        </p:spPr>
      </p:pic>
      <p:pic>
        <p:nvPicPr>
          <p:cNvPr id="6" name="Picture 5" descr="motion-8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984" y="1481328"/>
            <a:ext cx="1156716" cy="1792909"/>
          </a:xfrm>
          <a:prstGeom prst="rect">
            <a:avLst/>
          </a:prstGeom>
        </p:spPr>
      </p:pic>
      <p:pic>
        <p:nvPicPr>
          <p:cNvPr id="7" name="Picture 6" descr="motion-12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22292" y="1481328"/>
            <a:ext cx="1156716" cy="17929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3858768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One tracked flower: 0s · 1.2s · 2.3s · 3.9s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7648" y="1481328"/>
            <a:ext cx="5205679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LTX-2 generates a short video with the camera locked off, so centroid drift is the object moving.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Drift under 60% of its own bbox diagonal ⇒ anchored. It gets a sway amplitude and frequency, and a 3-bone rig.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Anything that drifts further is a rigid body: velocity and acceleration handed to the physics engine.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1600">
                <a:solidFill>
                  <a:srgbClr val="1F77B4"/>
                </a:solidFill>
                <a:latin typeface="Helvetica Neue"/>
              </a:rPr>
              <a:t>— </a:t>
            </a:r>
            <a:r>
              <a:rPr sz="1600">
                <a:solidFill>
                  <a:srgbClr val="1A1A1A"/>
                </a:solidFill>
                <a:latin typeface="Helvetica Neue"/>
              </a:rPr>
              <a:t>One scene-global wind field, so a gust crosses the meadow and everything in its path responds in turn.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Three captures, chosen to break different assumptions</a:t>
            </a:r>
          </a:p>
        </p:txBody>
      </p:sp>
      <p:pic>
        <p:nvPicPr>
          <p:cNvPr id="4" name="Picture 3" descr="rainier-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3442106" cy="20989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3671726"/>
            <a:ext cx="34421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Mount Rainier — alpine meadow</a:t>
            </a:r>
          </a:p>
        </p:txBody>
      </p:sp>
      <p:pic>
        <p:nvPicPr>
          <p:cNvPr id="6" name="Picture 5" descr="paris-sce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481328"/>
            <a:ext cx="3442106" cy="20989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374794" y="3671726"/>
            <a:ext cx="34421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Paris — flat urban river scene</a:t>
            </a:r>
          </a:p>
        </p:txBody>
      </p:sp>
      <p:pic>
        <p:nvPicPr>
          <p:cNvPr id="8" name="Picture 7" descr="sharkfin-sce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1220" y="1481328"/>
            <a:ext cx="3442106" cy="20989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91220" y="3671726"/>
            <a:ext cx="344210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Helvetica Neue"/>
              </a:rPr>
              <a:t>Shark Fin Cove — coastal cliffs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230367"/>
            <a:ext cx="1087495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No ground-truth 3D exists for any of them, so evaluation is diagnostic: instrument the pipeline,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measure intermediates against what the scene demonstrably contains, localise defects to stages.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Every failure localised to an assumption, not 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Skyline read as landform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1728" y="1481328"/>
            <a:ext cx="6851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Helvetica Neue"/>
              </a:rPr>
              <a:t>Paris: 0% of horizon columns type terrain, vs 98% and 100% elsewhere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94560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Confident misclassification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Helvetica Neue"/>
              </a:rPr>
              <a:t>Shark Fin: 49 detections at median confidence 0.95, almost all rock texture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07792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Thin vegetation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2907792"/>
            <a:ext cx="6851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Helvetica Neue"/>
              </a:rPr>
              <a:t>SAM 3D returns aspect 3.50:1 against detections at 0.12:1 — 28× disagreement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21024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Water follows terrain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81728" y="3621024"/>
            <a:ext cx="6851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Helvetica Neue"/>
              </a:rPr>
              <a:t>11 872 m² of sea spanning 73.5 m in elevation — the ocean draped up the cliffs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334256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1A1A1A"/>
                </a:solidFill>
                <a:latin typeface="Helvetica Neue"/>
              </a:rPr>
              <a:t>Far-field texture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4334256"/>
            <a:ext cx="685159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Helvetica Neue"/>
              </a:rPr>
              <a:t>67.8% of Shark Fin's terrain exceeds 0.5 m per texel, vs 20.9% for Rainier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230368"/>
            <a:ext cx="1087495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0501E"/>
                </a:solidFill>
                <a:latin typeface="Helvetica Neue"/>
              </a:rPr>
              <a:t>Each was fixed by making its premise testable from evidence the pipeline already computes —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C0501E"/>
                </a:solidFill>
                <a:latin typeface="Helvetica Neue"/>
              </a:rPr>
              <a:t>not by tuning a threshold or swapping a model. Measured on every capture, not just the one that broke.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WHAT WE LEARNED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The transferable result is methodological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Helvetica Neue"/>
              </a:rPr>
              <a:t>Into Frame mixes learned models and classical graphics roughly two-to-one by stage count.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000" b="1">
                <a:solidFill>
                  <a:srgbClr val="1A1A1A"/>
                </a:solidFill>
                <a:latin typeface="Helvetica Neue"/>
              </a:rPr>
              <a:t>Neither part would produce this output alone.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852928"/>
            <a:ext cx="51631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77B4"/>
                </a:solidFill>
                <a:latin typeface="Helvetica Neue"/>
              </a:rPr>
              <a:t>GENERATIVE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218688"/>
            <a:ext cx="516315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Make the problem tractable at all. Five sixths of the sphere and the ground behind every object are never observed, and no classical reasoning recovers content absent from the input.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They answer what is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852928"/>
            <a:ext cx="51631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77B4"/>
                </a:solidFill>
                <a:latin typeface="Helvetica Neue"/>
              </a:rPr>
              <a:t>CLASSICAL GRAPHICS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3218688"/>
            <a:ext cx="5163159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Supply the structure. A harmonic solve that never modifies measured ground, fluvial incision, point-process synthesis, pattern texturing, a rig driven by a shared wind field.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They decide how it behaves.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7495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Helvetica Neue"/>
              </a:rPr>
              <a:t>Of 38 active stages, 12 use no learned model at all — and those are disproportionately the ones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Helvetica Neue"/>
              </a:rPr>
              <a:t>that produce the scene's physical behaviour.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F77B4"/>
                </a:solidFill>
                <a:latin typeface="Helvetica Neue"/>
              </a:rPr>
              <a:t>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31520"/>
            <a:ext cx="1087495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Helvetica Neue"/>
              </a:rPr>
              <a:t>Where this leaves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5669280" cy="4919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A single photograph becomes an interactive environment with terrain, objects, ground cover, water and lighting as distinct physical components.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The decomposition is what buys the depth of the result — each component behaves according to its role.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700">
                <a:solidFill>
                  <a:srgbClr val="1F77B4"/>
                </a:solidFill>
                <a:latin typeface="Helvetica Neue"/>
              </a:rPr>
              <a:t>— </a:t>
            </a:r>
            <a:r>
              <a:rPr sz="1700">
                <a:solidFill>
                  <a:srgbClr val="1A1A1A"/>
                </a:solidFill>
                <a:latin typeface="Helvetica Neue"/>
              </a:rPr>
              <a:t>Remaining failures are assumptions that held for outdoor natural landscapes and did not extrapolate.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288" y="148132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1F77B4"/>
                </a:solidFill>
                <a:latin typeface="Helvetica Neue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6288" y="1892808"/>
            <a:ext cx="4937760" cy="4507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Explicit scene classification, consumed by every stage that embeds an implicit assumption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Confidence propagation, so the system can report where it is guessing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Species-aware reconstruction for thin structures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Joint refinement across depth, geometry and placement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Perceptual evaluation in the headset</a:t>
            </a:r>
          </a:p>
          <a:p>
            <a:pPr>
              <a:lnSpc>
                <a:spcPct val="118000"/>
              </a:lnSpc>
              <a:spcAft>
                <a:spcPts val="700"/>
              </a:spcAft>
            </a:pPr>
            <a:r>
              <a:rPr sz="1500">
                <a:solidFill>
                  <a:srgbClr val="1F77B4"/>
                </a:solidFill>
                <a:latin typeface="Helvetica Neue"/>
              </a:rPr>
              <a:t>— </a:t>
            </a:r>
            <a:r>
              <a:rPr sz="1500">
                <a:solidFill>
                  <a:srgbClr val="1A1A1A"/>
                </a:solidFill>
                <a:latin typeface="Helvetica Neue"/>
              </a:rPr>
              <a:t>Spatialised audio and richer interaction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43600"/>
            <a:ext cx="1087495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The boundaries are legible and measurable — addressing them means making implicit commitments explicit,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rather than waiting for better models.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