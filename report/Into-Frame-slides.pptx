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panorama.jpg"/>
          <p:cNvPicPr>
            <a:picLocks noChangeAspect="1"/>
          </p:cNvPicPr>
          <p:nvPr/>
        </p:nvPicPr>
        <p:blipFill>
          <a:blip r:embed="rId2"/>
          <a:srcRect l="5557" r="555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gradFill rotWithShape="1">
            <a:gsLst>
              <a:gs pos="0">
                <a:srgbClr val="0E1116">
                  <a:alpha val="90000"/>
                </a:srgbClr>
              </a:gs>
              <a:gs pos="100000">
                <a:srgbClr val="0E1116">
                  <a:alpha val="58000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gradFill rotWithShape="1">
            <a:gsLst>
              <a:gs pos="0">
                <a:srgbClr val="0E1116">
                  <a:alpha val="58000"/>
                </a:srgbClr>
              </a:gs>
              <a:gs pos="100000">
                <a:srgbClr val="0E1116">
                  <a:alpha val="28000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88720"/>
            <a:ext cx="10241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5200" b="1" i="0" spc="-30">
                <a:solidFill>
                  <a:srgbClr val="F2F4F7"/>
                </a:solidFill>
                <a:latin typeface="Helvetica Neue"/>
              </a:rPr>
              <a:t>Jumping Into the Frame</a:t>
            </a:r>
          </a:p>
          <a:p>
            <a:pPr>
              <a:lnSpc>
                <a:spcPct val="128000"/>
              </a:lnSpc>
              <a:spcBef>
                <a:spcPts val="1400"/>
              </a:spcBef>
            </a:pPr>
            <a:r>
              <a:rPr sz="1700" b="0" i="0">
                <a:solidFill>
                  <a:srgbClr val="CED6E0"/>
                </a:solidFill>
                <a:latin typeface="Helvetica Neue"/>
              </a:rPr>
              <a:t>Reconstructing interactive, physically-grounded 3D environments from a single 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2724912"/>
            <a:ext cx="1280159" cy="0"/>
          </a:xfrm>
          <a:prstGeom prst="line">
            <a:avLst/>
          </a:prstGeom>
          <a:ln w="20320">
            <a:solidFill>
              <a:srgbClr val="6F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2944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 i="0">
                <a:solidFill>
                  <a:srgbClr val="F2F4F7"/>
                </a:solidFill>
                <a:latin typeface="Helvetica Neue"/>
              </a:rPr>
              <a:t>Joshua Ford</a:t>
            </a:r>
            <a:r>
              <a:rPr sz="1250" b="0" i="0">
                <a:solidFill>
                  <a:srgbClr val="7B8797"/>
                </a:solidFill>
                <a:latin typeface="Helvetica Neue"/>
              </a:rPr>
              <a:t>        Advisor: 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Marie-Paule Cani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A photograph is not a place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5852160" cy="470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22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One view, infinitely many scenes. The problem is underconstrained.</a:t>
            </a:r>
          </a:p>
          <a:p>
            <a:pPr marL="173736" indent="-173736">
              <a:lnSpc>
                <a:spcPct val="122000"/>
              </a:lnSpc>
              <a:spcAft>
                <a:spcPts val="22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People read a photograph as a place anyway: ground past the frame, the far side of a rock, individual flowers.</a:t>
            </a:r>
          </a:p>
          <a:p>
            <a:pPr marL="173736" indent="-173736">
              <a:lnSpc>
                <a:spcPct val="122000"/>
              </a:lnSpc>
              <a:spcAft>
                <a:spcPts val="22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Photographs are abundant. 3D authoring is not.</a:t>
            </a:r>
          </a:p>
          <a:p>
            <a:pPr marL="173736" indent="-173736">
              <a:lnSpc>
                <a:spcPct val="122000"/>
              </a:lnSpc>
              <a:spcAft>
                <a:spcPts val="22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The goal is somewhere you can </a:t>
            </a:r>
            <a:r>
              <a:rPr sz="1400" b="1" i="0">
                <a:solidFill>
                  <a:srgbClr val="F2F4F7"/>
                </a:solidFill>
                <a:latin typeface="Helvetica Neue"/>
              </a:rPr>
              <a:t>jump in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, not a picture you can orbit.</a:t>
            </a:r>
          </a:p>
        </p:txBody>
      </p:sp>
      <p:pic>
        <p:nvPicPr>
          <p:cNvPr id="9" name="Picture 8" descr="input.jpg"/>
          <p:cNvPicPr>
            <a:picLocks noChangeAspect="1"/>
          </p:cNvPicPr>
          <p:nvPr/>
        </p:nvPicPr>
        <p:blipFill>
          <a:blip r:embed="rId2"/>
          <a:srcRect t="86" b="86"/>
          <a:stretch>
            <a:fillRect/>
          </a:stretch>
        </p:blipFill>
        <p:spPr>
          <a:xfrm>
            <a:off x="6967728" y="1572768"/>
            <a:ext cx="4562856" cy="3063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67728" y="4727448"/>
            <a:ext cx="4562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One photograph — roughly a sixth of the sphere.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5138928"/>
            <a:ext cx="2697480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5285232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E9A94B"/>
                </a:solidFill>
                <a:latin typeface="Helvetica Neue"/>
              </a:rPr>
              <a:t>Interactive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7B8797"/>
                </a:solidFill>
                <a:latin typeface="Helvetica Neue"/>
              </a:rPr>
              <a:t>objects animate and collide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75304" y="5138928"/>
            <a:ext cx="2697480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75304" y="5285232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E9A94B"/>
                </a:solidFill>
                <a:latin typeface="Helvetica Neue"/>
              </a:rPr>
              <a:t>Decomposed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7B8797"/>
                </a:solidFill>
                <a:latin typeface="Helvetica Neue"/>
              </a:rPr>
              <a:t>entities, not painted texture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92240" y="5138928"/>
            <a:ext cx="2697480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92240" y="5285232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E9A94B"/>
                </a:solidFill>
                <a:latin typeface="Helvetica Neue"/>
              </a:rPr>
              <a:t>Plausible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7B8797"/>
                </a:solidFill>
                <a:latin typeface="Helvetica Neue"/>
              </a:rPr>
              <a:t>beyond what was observed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09176" y="5138928"/>
            <a:ext cx="2697480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409176" y="5285232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E9A94B"/>
                </a:solidFill>
                <a:latin typeface="Helvetica Neue"/>
              </a:rPr>
              <a:t>Performant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7B8797"/>
                </a:solidFill>
                <a:latin typeface="Helvetica Neue"/>
              </a:rPr>
              <a:t>stereo at headset frame rates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Four problems that compound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5138928" cy="1883664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41148" cy="1883664"/>
          </a:xfrm>
          <a:prstGeom prst="rect">
            <a:avLst/>
          </a:prstGeom>
          <a:solidFill>
            <a:srgbClr val="6F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66544"/>
            <a:ext cx="4553712" cy="1591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6FD2C0"/>
                </a:solidFill>
                <a:latin typeface="Helvetica Neue"/>
              </a:rPr>
              <a:t>Extreme ill-posedness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350" b="1" i="0">
                <a:solidFill>
                  <a:srgbClr val="F2F4F7"/>
                </a:solidFill>
                <a:latin typeface="Helvetica Neue"/>
              </a:rPr>
              <a:t>Five sixths of the sphere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 is never observed. Nor is anything behind an object.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920240"/>
            <a:ext cx="5138928" cy="1883664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920240"/>
            <a:ext cx="41148" cy="1883664"/>
          </a:xfrm>
          <a:prstGeom prst="rect">
            <a:avLst/>
          </a:prstGeom>
          <a:solidFill>
            <a:srgbClr val="E9A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66544"/>
            <a:ext cx="4553712" cy="1591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E9A94B"/>
                </a:solidFill>
                <a:latin typeface="Helvetica Neue"/>
              </a:rPr>
              <a:t>Compounding error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350" b="0" i="0">
                <a:solidFill>
                  <a:srgbClr val="C2CAD5"/>
                </a:solidFill>
                <a:latin typeface="Helvetica Neue"/>
              </a:rPr>
              <a:t>Depth, then geometry, then materials, then objects. Each inherits every earlier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59935"/>
            <a:ext cx="5138928" cy="1883664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059935"/>
            <a:ext cx="41148" cy="1883664"/>
          </a:xfrm>
          <a:prstGeom prst="rect">
            <a:avLst/>
          </a:prstGeom>
          <a:solidFill>
            <a:srgbClr val="8F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206240"/>
            <a:ext cx="4553712" cy="1591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8FC96B"/>
                </a:solidFill>
                <a:latin typeface="Helvetica Neue"/>
              </a:rPr>
              <a:t>Heterogeneous content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350" b="0" i="0">
                <a:solidFill>
                  <a:srgbClr val="C2CAD5"/>
                </a:solidFill>
                <a:latin typeface="Helvetica Neue"/>
              </a:rPr>
              <a:t>A mountainside, a tree, a meadow, the sea. Four representations, one coordinate frame, one light.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059935"/>
            <a:ext cx="5138928" cy="1883664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4059935"/>
            <a:ext cx="41148" cy="1883664"/>
          </a:xfrm>
          <a:prstGeom prst="rect">
            <a:avLst/>
          </a:prstGeom>
          <a:solidFill>
            <a:srgbClr val="6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206240"/>
            <a:ext cx="4553712" cy="1591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6EA8E0"/>
                </a:solidFill>
                <a:latin typeface="Helvetica Neue"/>
              </a:rPr>
              <a:t>Interactivity budget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350" b="0" i="0">
                <a:solidFill>
                  <a:srgbClr val="C2CAD5"/>
                </a:solidFill>
                <a:latin typeface="Helvetica Neue"/>
              </a:rPr>
              <a:t>Stereo at headset frame rates — binding hardest on exactly the parts that move.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Prior work stops at viewable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Related work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1517904"/>
            <a:ext cx="5650992" cy="0"/>
          </a:xfrm>
          <a:prstGeom prst="line">
            <a:avLst/>
          </a:prstGeom>
          <a:ln w="9525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1664208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E9A94B"/>
                </a:solidFill>
                <a:latin typeface="Helvetica Neue"/>
              </a:rPr>
              <a:t>Single-image panoramas</a:t>
            </a:r>
          </a:p>
          <a:p>
            <a:pPr>
              <a:lnSpc>
                <a:spcPct val="124000"/>
              </a:lnSpc>
              <a:spcBef>
                <a:spcPts val="700"/>
              </a:spcBef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CubeDiff · DreamCube · PanoDreamer · LayerPano3D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2633472"/>
            <a:ext cx="5650992" cy="0"/>
          </a:xfrm>
          <a:prstGeom prst="line">
            <a:avLst/>
          </a:prstGeom>
          <a:ln w="9525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2779776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E9A94B"/>
                </a:solidFill>
                <a:latin typeface="Helvetica Neue"/>
              </a:rPr>
              <a:t>Single-image 3D scenes</a:t>
            </a:r>
          </a:p>
          <a:p>
            <a:pPr>
              <a:lnSpc>
                <a:spcPct val="124000"/>
              </a:lnSpc>
              <a:spcBef>
                <a:spcPts val="700"/>
              </a:spcBef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SphericalDreamer · SonoWorld · 360Anything · WorldGen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749039"/>
            <a:ext cx="5650992" cy="0"/>
          </a:xfrm>
          <a:prstGeom prst="line">
            <a:avLst/>
          </a:prstGeom>
          <a:ln w="9525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895344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E9A94B"/>
                </a:solidFill>
                <a:latin typeface="Helvetica Neue"/>
              </a:rPr>
              <a:t>Terrain, texture, arrangement</a:t>
            </a:r>
          </a:p>
          <a:p>
            <a:pPr>
              <a:lnSpc>
                <a:spcPct val="124000"/>
              </a:lnSpc>
              <a:spcBef>
                <a:spcPts val="700"/>
              </a:spcBef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Pixels2Peaks · Earthbender · WorldBrush · Landlab · pattern texturing · point processes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4864607"/>
            <a:ext cx="5650992" cy="0"/>
          </a:xfrm>
          <a:prstGeom prst="line">
            <a:avLst/>
          </a:prstGeom>
          <a:ln w="9525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5010912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E9A94B"/>
                </a:solidFill>
                <a:latin typeface="Helvetica Neue"/>
              </a:rPr>
              <a:t>Perception and reconstruction</a:t>
            </a:r>
          </a:p>
          <a:p>
            <a:pPr>
              <a:lnSpc>
                <a:spcPct val="124000"/>
              </a:lnSpc>
              <a:spcBef>
                <a:spcPts val="700"/>
              </a:spcBef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Depth Anything 3 · SAM 2 · Grounding DINO · CLIP · SAM 3D · ObjectClear · LuxDiT · LTX-2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517904"/>
            <a:ext cx="4626864" cy="4206240"/>
          </a:xfrm>
          <a:prstGeom prst="roundRect">
            <a:avLst>
              <a:gd name="adj" fmla="val 5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1700784"/>
            <a:ext cx="3931920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 spc="140">
                <a:solidFill>
                  <a:srgbClr val="6FD2C0"/>
                </a:solidFill>
                <a:latin typeface="Helvetica Neue"/>
              </a:rPr>
              <a:t>WHERE WE DIFFER</a:t>
            </a:r>
          </a:p>
          <a:p>
            <a:pPr>
              <a:lnSpc>
                <a:spcPct val="130000"/>
              </a:lnSpc>
              <a:spcBef>
                <a:spcPts val="1400"/>
              </a:spcBef>
            </a:pPr>
            <a:r>
              <a:rPr sz="1350" b="0" i="0">
                <a:solidFill>
                  <a:srgbClr val="C2CAD5"/>
                </a:solidFill>
                <a:latin typeface="Helvetica Neue"/>
              </a:rPr>
              <a:t>They optimise fidelity near the original camera.
We optimise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physical decomposition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 — typed entities, not one geometry proxy:</a:t>
            </a:r>
          </a:p>
          <a:p>
            <a:pPr marL="146304" indent="-146304">
              <a:spcBef>
                <a:spcPts val="900"/>
              </a:spcBef>
            </a:pPr>
            <a:r>
              <a:rPr sz="1250" b="1" i="0">
                <a:solidFill>
                  <a:srgbClr val="6FD2C0"/>
                </a:solidFill>
                <a:latin typeface="Helvetica Neue"/>
              </a:rPr>
              <a:t>· 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a collidable terrain mesh</a:t>
            </a:r>
          </a:p>
          <a:p>
            <a:pPr marL="146304" indent="-146304">
              <a:spcBef>
                <a:spcPts val="900"/>
              </a:spcBef>
            </a:pPr>
            <a:r>
              <a:rPr sz="1250" b="1" i="0">
                <a:solidFill>
                  <a:srgbClr val="6FD2C0"/>
                </a:solidFill>
                <a:latin typeface="Helvetica Neue"/>
              </a:rPr>
              <a:t>· 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individually placed object meshes</a:t>
            </a:r>
          </a:p>
          <a:p>
            <a:pPr marL="146304" indent="-146304">
              <a:spcBef>
                <a:spcPts val="900"/>
              </a:spcBef>
            </a:pPr>
            <a:r>
              <a:rPr sz="1250" b="1" i="0">
                <a:solidFill>
                  <a:srgbClr val="6FD2C0"/>
                </a:solidFill>
                <a:latin typeface="Helvetica Neue"/>
              </a:rPr>
              <a:t>· 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an instanced ground-cover population</a:t>
            </a:r>
          </a:p>
          <a:p>
            <a:pPr marL="146304" indent="-146304">
              <a:spcBef>
                <a:spcPts val="900"/>
              </a:spcBef>
            </a:pPr>
            <a:r>
              <a:rPr sz="1250" b="1" i="0">
                <a:solidFill>
                  <a:srgbClr val="6FD2C0"/>
                </a:solidFill>
                <a:latin typeface="Helvetica Neue"/>
              </a:rPr>
              <a:t>· 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an animated water surface</a:t>
            </a:r>
          </a:p>
          <a:p>
            <a:pPr>
              <a:lnSpc>
                <a:spcPct val="128000"/>
              </a:lnSpc>
              <a:spcBef>
                <a:spcPts val="1500"/>
              </a:spcBef>
            </a:pPr>
            <a:r>
              <a:rPr sz="1200" b="0" i="0">
                <a:solidFill>
                  <a:srgbClr val="7B8797"/>
                </a:solidFill>
                <a:latin typeface="Helvetica Neue"/>
              </a:rPr>
              <a:t>The panorama is an intermediate representation, not the deliverable.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DESIGN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Reconstruct each part by its physical role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600" b="1" i="0">
                <a:solidFill>
                  <a:srgbClr val="F2F4F7"/>
                </a:solidFill>
                <a:latin typeface="Helvetica Neue"/>
              </a:rPr>
              <a:t>A scene is not one thing.</a:t>
            </a:r>
            <a:r>
              <a:rPr sz="1600" b="0" i="0">
                <a:solidFill>
                  <a:srgbClr val="C2CAD5"/>
                </a:solidFill>
                <a:latin typeface="Helvetica Neue"/>
              </a:rPr>
              <a:t> Ground, objects, ground cover, water and sky differ in how they are built, textured, and how they behave.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05456"/>
            <a:ext cx="3465576" cy="1389888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505456"/>
            <a:ext cx="3465576" cy="32004"/>
          </a:xfrm>
          <a:prstGeom prst="rect">
            <a:avLst/>
          </a:prstGeom>
          <a:solidFill>
            <a:srgbClr val="6F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51760"/>
            <a:ext cx="2916936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6FD2C0"/>
                </a:solidFill>
                <a:latin typeface="Helvetica Neue"/>
              </a:rPr>
              <a:t>Terrain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C2CAD5"/>
                </a:solidFill>
                <a:latin typeface="Helvetica Neue"/>
              </a:rPr>
              <a:t>one height field, meshed at variable density, collidable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505456"/>
            <a:ext cx="3465576" cy="1389888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505456"/>
            <a:ext cx="3465576" cy="32004"/>
          </a:xfrm>
          <a:prstGeom prst="rect">
            <a:avLst/>
          </a:prstGeom>
          <a:solidFill>
            <a:srgbClr val="E9A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651760"/>
            <a:ext cx="2916936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E9A94B"/>
                </a:solidFill>
                <a:latin typeface="Helvetica Neue"/>
              </a:rPr>
              <a:t>Objects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C2CAD5"/>
                </a:solidFill>
                <a:latin typeface="Helvetica Neue"/>
              </a:rPr>
              <a:t>clustered by appearance, reconstructed once, instanced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2505456"/>
            <a:ext cx="3465576" cy="1389888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2" y="2505456"/>
            <a:ext cx="3465576" cy="32004"/>
          </a:xfrm>
          <a:prstGeom prst="rect">
            <a:avLst/>
          </a:prstGeom>
          <a:solidFill>
            <a:srgbClr val="8F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2916936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8FC96B"/>
                </a:solidFill>
                <a:latin typeface="Helvetica Neue"/>
              </a:rPr>
              <a:t>Ground cover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C2CAD5"/>
                </a:solidFill>
                <a:latin typeface="Helvetica Neue"/>
              </a:rPr>
              <a:t>scattered by density over a semantic and colour mask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3465576" cy="1389888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3465576" cy="32004"/>
          </a:xfrm>
          <a:prstGeom prst="rect">
            <a:avLst/>
          </a:prstGeom>
          <a:solidFill>
            <a:srgbClr val="6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224528"/>
            <a:ext cx="2916936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6EA8E0"/>
                </a:solidFill>
                <a:latin typeface="Helvetica Neue"/>
              </a:rPr>
              <a:t>Water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C2CAD5"/>
                </a:solidFill>
                <a:latin typeface="Helvetica Neue"/>
              </a:rPr>
              <a:t>a separate levelled surface with an animated shader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078224"/>
            <a:ext cx="3465576" cy="1389888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4078224"/>
            <a:ext cx="3465576" cy="32004"/>
          </a:xfrm>
          <a:prstGeom prst="rect">
            <a:avLst/>
          </a:prstGeom>
          <a:solidFill>
            <a:srgbClr val="D8C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4224528"/>
            <a:ext cx="2916936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D8C06A"/>
                </a:solidFill>
                <a:latin typeface="Helvetica Neue"/>
              </a:rPr>
              <a:t>Sky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C2CAD5"/>
                </a:solidFill>
                <a:latin typeface="Helvetica Neue"/>
              </a:rPr>
              <a:t>skybox and image-based lighting source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2" y="4078224"/>
            <a:ext cx="3465576" cy="1389888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8432" y="4078224"/>
            <a:ext cx="3465576" cy="32004"/>
          </a:xfrm>
          <a:prstGeom prst="rect">
            <a:avLst/>
          </a:prstGeom>
          <a:solidFill>
            <a:srgbClr val="B79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224528"/>
            <a:ext cx="2916936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B79BE0"/>
                </a:solidFill>
                <a:latin typeface="Helvetica Neue"/>
              </a:rPr>
              <a:t>Motion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C2CAD5"/>
                </a:solidFill>
                <a:latin typeface="Helvetica Neue"/>
              </a:rPr>
              <a:t>a rigged sway, or a rigid body handed to physics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760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7B8797"/>
                </a:solidFill>
                <a:latin typeface="Helvetica Neue"/>
              </a:rPr>
              <a:t>One representation for all of them means accepting that representation's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42 STAGES, 38 ACTIVE IN THE DEFAULT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The pipeline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195828"/>
            <a:ext cx="1188720" cy="749808"/>
          </a:xfrm>
          <a:prstGeom prst="roundRect">
            <a:avLst>
              <a:gd name="adj" fmla="val 9000"/>
            </a:avLst>
          </a:prstGeom>
          <a:solidFill>
            <a:srgbClr val="1E242E"/>
          </a:solidFill>
          <a:ln w="9525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2F4F7"/>
                </a:solidFill>
                <a:latin typeface="Helvetica Neue"/>
              </a:rPr>
              <a:t>Single
photograph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47088" y="3570732"/>
            <a:ext cx="274320" cy="0"/>
          </a:xfrm>
          <a:prstGeom prst="line">
            <a:avLst/>
          </a:prstGeom>
          <a:ln w="12700">
            <a:solidFill>
              <a:srgbClr val="7B87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121408" y="2436876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7B8797"/>
                </a:solidFill>
                <a:latin typeface="Helvetica Neue"/>
              </a:rPr>
              <a:t>THREE PANORAMA VARIANTS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2674620"/>
            <a:ext cx="1572768" cy="457200"/>
          </a:xfrm>
          <a:prstGeom prst="roundRect">
            <a:avLst>
              <a:gd name="adj" fmla="val 28000"/>
            </a:avLst>
          </a:prstGeom>
          <a:solidFill>
            <a:srgbClr val="6FD2C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 b="1" i="0">
                <a:solidFill>
                  <a:srgbClr val="6FD2C0"/>
                </a:solidFill>
                <a:latin typeface="Helvetica Neue"/>
              </a:rPr>
              <a:t>Original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21408" y="3241548"/>
            <a:ext cx="1572768" cy="457200"/>
          </a:xfrm>
          <a:prstGeom prst="roundRect">
            <a:avLst>
              <a:gd name="adj" fmla="val 28000"/>
            </a:avLst>
          </a:prstGeom>
          <a:solidFill>
            <a:srgbClr val="E9A94B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 b="1" i="0">
                <a:solidFill>
                  <a:srgbClr val="E9A94B"/>
                </a:solidFill>
                <a:latin typeface="Helvetica Neue"/>
              </a:rPr>
              <a:t>Object-removed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21408" y="3808476"/>
            <a:ext cx="1572768" cy="457200"/>
          </a:xfrm>
          <a:prstGeom prst="roundRect">
            <a:avLst>
              <a:gd name="adj" fmla="val 28000"/>
            </a:avLst>
          </a:prstGeom>
          <a:solidFill>
            <a:srgbClr val="6EA8E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 b="1" i="0">
                <a:solidFill>
                  <a:srgbClr val="6EA8E0"/>
                </a:solidFill>
                <a:latin typeface="Helvetica Neue"/>
              </a:rPr>
              <a:t>Sky-inpainted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6" y="1627632"/>
            <a:ext cx="5989320" cy="548640"/>
          </a:xfrm>
          <a:prstGeom prst="roundRect">
            <a:avLst>
              <a:gd name="adj" fmla="val 11000"/>
            </a:avLst>
          </a:prstGeom>
          <a:solidFill>
            <a:srgbClr val="6FD2C0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801368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6FD2C0"/>
                </a:solidFill>
                <a:latin typeface="Helvetica Neue"/>
              </a:rPr>
              <a:t>Terrain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21808" y="1709928"/>
            <a:ext cx="1484376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Height 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88480" y="1709928"/>
            <a:ext cx="1484376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Constrained reconstruction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06184" y="1901952"/>
            <a:ext cx="82296" cy="0"/>
          </a:xfrm>
          <a:prstGeom prst="line">
            <a:avLst/>
          </a:prstGeom>
          <a:ln w="9525">
            <a:solidFill>
              <a:srgbClr val="7B87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455152" y="1709928"/>
            <a:ext cx="1484376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Mesh + texture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72856" y="1901952"/>
            <a:ext cx="82296" cy="0"/>
          </a:xfrm>
          <a:prstGeom prst="line">
            <a:avLst/>
          </a:prstGeom>
          <a:ln w="9525">
            <a:solidFill>
              <a:srgbClr val="7B87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94176" y="1901952"/>
            <a:ext cx="365760" cy="166878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49256" y="1901952"/>
            <a:ext cx="320040" cy="166878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059936" y="2295144"/>
            <a:ext cx="5989320" cy="548640"/>
          </a:xfrm>
          <a:prstGeom prst="roundRect">
            <a:avLst>
              <a:gd name="adj" fmla="val 11000"/>
            </a:avLst>
          </a:prstGeom>
          <a:solidFill>
            <a:srgbClr val="E9A94B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2468879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E9A94B"/>
                </a:solidFill>
                <a:latin typeface="Helvetica Neue"/>
              </a:rPr>
              <a:t>Objects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21808" y="2377439"/>
            <a:ext cx="1484376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Detection + typing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88480" y="2377439"/>
            <a:ext cx="1484376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Appearance clustering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06184" y="2569463"/>
            <a:ext cx="82296" cy="0"/>
          </a:xfrm>
          <a:prstGeom prst="line">
            <a:avLst/>
          </a:prstGeom>
          <a:ln w="9525">
            <a:solidFill>
              <a:srgbClr val="7B87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55152" y="2377439"/>
            <a:ext cx="1484376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3D assets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72856" y="2569463"/>
            <a:ext cx="82296" cy="0"/>
          </a:xfrm>
          <a:prstGeom prst="line">
            <a:avLst/>
          </a:prstGeom>
          <a:ln w="9525">
            <a:solidFill>
              <a:srgbClr val="7B87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694176" y="2569463"/>
            <a:ext cx="365760" cy="1001269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049256" y="2569463"/>
            <a:ext cx="320040" cy="1001269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059936" y="2962656"/>
            <a:ext cx="5989320" cy="548640"/>
          </a:xfrm>
          <a:prstGeom prst="roundRect">
            <a:avLst>
              <a:gd name="adj" fmla="val 11000"/>
            </a:avLst>
          </a:prstGeom>
          <a:solidFill>
            <a:srgbClr val="8FC96B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3136392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8FC96B"/>
                </a:solidFill>
                <a:latin typeface="Helvetica Neue"/>
              </a:rPr>
              <a:t>Ground cover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21808" y="3044952"/>
            <a:ext cx="2267712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Spatial statistics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71816" y="3044952"/>
            <a:ext cx="2267712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Population synthesis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89520" y="3236976"/>
            <a:ext cx="82296" cy="0"/>
          </a:xfrm>
          <a:prstGeom prst="line">
            <a:avLst/>
          </a:prstGeom>
          <a:ln w="9525">
            <a:solidFill>
              <a:srgbClr val="7B87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694176" y="3236976"/>
            <a:ext cx="365760" cy="333756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049256" y="3236976"/>
            <a:ext cx="320040" cy="333756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059936" y="3630168"/>
            <a:ext cx="5989320" cy="548640"/>
          </a:xfrm>
          <a:prstGeom prst="roundRect">
            <a:avLst>
              <a:gd name="adj" fmla="val 11000"/>
            </a:avLst>
          </a:prstGeom>
          <a:solidFill>
            <a:srgbClr val="6EA8E0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3803904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6EA8E0"/>
                </a:solidFill>
                <a:latin typeface="Helvetica Neue"/>
              </a:rPr>
              <a:t>Water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21808" y="3712463"/>
            <a:ext cx="2267712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Region extraction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71816" y="3712463"/>
            <a:ext cx="2267712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Levelled surface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589520" y="3904487"/>
            <a:ext cx="82296" cy="0"/>
          </a:xfrm>
          <a:prstGeom prst="line">
            <a:avLst/>
          </a:prstGeom>
          <a:ln w="9525">
            <a:solidFill>
              <a:srgbClr val="7B87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694176" y="3570732"/>
            <a:ext cx="365760" cy="333755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049256" y="3570732"/>
            <a:ext cx="320040" cy="333755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059936" y="4297680"/>
            <a:ext cx="5989320" cy="548640"/>
          </a:xfrm>
          <a:prstGeom prst="roundRect">
            <a:avLst>
              <a:gd name="adj" fmla="val 11000"/>
            </a:avLst>
          </a:prstGeom>
          <a:solidFill>
            <a:srgbClr val="D8C06A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4471416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D8C06A"/>
                </a:solidFill>
                <a:latin typeface="Helvetica Neue"/>
              </a:rPr>
              <a:t>Sky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21808" y="4379976"/>
            <a:ext cx="2267712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Lighting estimation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71816" y="4379976"/>
            <a:ext cx="2267712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Skybox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589520" y="4572000"/>
            <a:ext cx="82296" cy="0"/>
          </a:xfrm>
          <a:prstGeom prst="line">
            <a:avLst/>
          </a:prstGeom>
          <a:ln w="9525">
            <a:solidFill>
              <a:srgbClr val="7B87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694176" y="3570732"/>
            <a:ext cx="365760" cy="1001268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0049256" y="3570732"/>
            <a:ext cx="320040" cy="1001268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4059936" y="4965192"/>
            <a:ext cx="5989320" cy="548640"/>
          </a:xfrm>
          <a:prstGeom prst="roundRect">
            <a:avLst>
              <a:gd name="adj" fmla="val 11000"/>
            </a:avLst>
          </a:prstGeom>
          <a:solidFill>
            <a:srgbClr val="B79BE0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0" y="5138928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B79BE0"/>
                </a:solidFill>
                <a:latin typeface="Helvetica Neue"/>
              </a:rPr>
              <a:t>Motion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21808" y="5047488"/>
            <a:ext cx="1484376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Video generation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88480" y="5047488"/>
            <a:ext cx="1484376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Motion extraction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806184" y="5239512"/>
            <a:ext cx="82296" cy="0"/>
          </a:xfrm>
          <a:prstGeom prst="line">
            <a:avLst/>
          </a:prstGeom>
          <a:ln w="9525">
            <a:solidFill>
              <a:srgbClr val="7B87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455152" y="5047488"/>
            <a:ext cx="1484376" cy="384048"/>
          </a:xfrm>
          <a:prstGeom prst="roundRect">
            <a:avLst>
              <a:gd name="adj" fmla="val 16000"/>
            </a:avLst>
          </a:prstGeom>
          <a:solidFill>
            <a:srgbClr val="1E242E"/>
          </a:solidFill>
          <a:ln w="6350">
            <a:solidFill>
              <a:srgbClr val="2C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0" i="0">
                <a:solidFill>
                  <a:srgbClr val="C2CAD5"/>
                </a:solidFill>
                <a:latin typeface="Helvetica Neue"/>
              </a:rPr>
              <a:t>Rigging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72856" y="5239512"/>
            <a:ext cx="82296" cy="0"/>
          </a:xfrm>
          <a:prstGeom prst="line">
            <a:avLst/>
          </a:prstGeom>
          <a:ln w="9525">
            <a:solidFill>
              <a:srgbClr val="7B87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694176" y="3570732"/>
            <a:ext cx="365760" cy="166878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049256" y="3570732"/>
            <a:ext cx="320040" cy="166878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10369296" y="3195828"/>
            <a:ext cx="1161288" cy="749808"/>
          </a:xfrm>
          <a:prstGeom prst="roundRect">
            <a:avLst>
              <a:gd name="adj" fmla="val 9000"/>
            </a:avLst>
          </a:prstGeom>
          <a:solidFill>
            <a:srgbClr val="1E242E"/>
          </a:solidFill>
          <a:ln w="12700">
            <a:solidFill>
              <a:srgbClr val="6F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2F4F7"/>
                </a:solidFill>
                <a:latin typeface="Helvetica Neue"/>
              </a:rPr>
              <a:t>Scene
assembly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32136" y="4027932"/>
            <a:ext cx="14356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7B8797"/>
                </a:solidFill>
                <a:latin typeface="Helvetica Neue"/>
              </a:rPr>
              <a:t>streamed to the client
as a .frame archive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58368" y="4480560"/>
            <a:ext cx="3035808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58368" y="4681728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50" b="1" i="0">
                <a:solidFill>
                  <a:srgbClr val="F2F4F7"/>
                </a:solidFill>
                <a:latin typeface="Helvetica Neue"/>
              </a:rPr>
              <a:t>Geometry from the object-removed panorama; semantics from the original.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0" i="0">
                <a:solidFill>
                  <a:srgbClr val="7B8797"/>
                </a:solidFill>
                <a:latin typeface="Helvetica Neue"/>
              </a:rPr>
              <a:t>The server streams assets as they finish. The Unity client carries the shading, the wind and the physics.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THE PANORAMIC SUBSTRATE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Three panoramas, because they answer different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The panoramic data</a:t>
            </a:r>
          </a:p>
        </p:txBody>
      </p:sp>
      <p:pic>
        <p:nvPicPr>
          <p:cNvPr id="8" name="Picture 7" descr="panorama-band.jpg"/>
          <p:cNvPicPr>
            <a:picLocks noChangeAspect="1"/>
          </p:cNvPicPr>
          <p:nvPr/>
        </p:nvPicPr>
        <p:blipFill>
          <a:blip r:embed="rId2"/>
          <a:srcRect l="1679" r="1679"/>
          <a:stretch>
            <a:fillRect/>
          </a:stretch>
        </p:blipFill>
        <p:spPr>
          <a:xfrm>
            <a:off x="658368" y="1572768"/>
            <a:ext cx="6766560" cy="1225296"/>
          </a:xfrm>
          <a:prstGeom prst="rect">
            <a:avLst/>
          </a:prstGeom>
        </p:spPr>
      </p:pic>
      <p:pic>
        <p:nvPicPr>
          <p:cNvPr id="9" name="Picture 8" descr="panorama-object-removed-band.jpg"/>
          <p:cNvPicPr>
            <a:picLocks noChangeAspect="1"/>
          </p:cNvPicPr>
          <p:nvPr/>
        </p:nvPicPr>
        <p:blipFill>
          <a:blip r:embed="rId3"/>
          <a:srcRect l="1679" r="1679"/>
          <a:stretch>
            <a:fillRect/>
          </a:stretch>
        </p:blipFill>
        <p:spPr>
          <a:xfrm>
            <a:off x="658368" y="2907791"/>
            <a:ext cx="6766560" cy="12252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0624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Original (top) and object-removed (bottom): the meadow and the trees are gone with their shadows, exposing the ground behind them.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17536" y="1389888"/>
            <a:ext cx="3815791" cy="0"/>
          </a:xfrm>
          <a:prstGeom prst="line">
            <a:avLst/>
          </a:prstGeom>
          <a:ln w="9525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17536" y="1536192"/>
            <a:ext cx="38130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 i="0">
                <a:solidFill>
                  <a:srgbClr val="6FD2C0"/>
                </a:solidFill>
                <a:latin typeface="Helvetica Neue"/>
              </a:rPr>
              <a:t>Original</a:t>
            </a:r>
          </a:p>
          <a:p>
            <a:pPr>
              <a:lnSpc>
                <a:spcPct val="126000"/>
              </a:lnSpc>
              <a:spcBef>
                <a:spcPts val="700"/>
              </a:spcBef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The only variant where the real objects remain. Every semantic stage reads 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17536" y="2706624"/>
            <a:ext cx="3815791" cy="0"/>
          </a:xfrm>
          <a:prstGeom prst="line">
            <a:avLst/>
          </a:prstGeom>
          <a:ln w="9525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7536" y="2852928"/>
            <a:ext cx="38130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 i="0">
                <a:solidFill>
                  <a:srgbClr val="E9A94B"/>
                </a:solidFill>
                <a:latin typeface="Helvetica Neue"/>
              </a:rPr>
              <a:t>Object-removed</a:t>
            </a:r>
          </a:p>
          <a:p>
            <a:pPr>
              <a:lnSpc>
                <a:spcPct val="126000"/>
              </a:lnSpc>
              <a:spcBef>
                <a:spcPts val="700"/>
              </a:spcBef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Depth through an occluder puts the flower canopy, not the ground, at the bottom of the height field.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17536" y="4023360"/>
            <a:ext cx="3815791" cy="0"/>
          </a:xfrm>
          <a:prstGeom prst="line">
            <a:avLst/>
          </a:prstGeom>
          <a:ln w="9525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7536" y="4169664"/>
            <a:ext cx="38130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 i="0">
                <a:solidFill>
                  <a:srgbClr val="6EA8E0"/>
                </a:solidFill>
                <a:latin typeface="Helvetica Neue"/>
              </a:rPr>
              <a:t>Sky-inpainted</a:t>
            </a:r>
          </a:p>
          <a:p>
            <a:pPr>
              <a:lnSpc>
                <a:spcPct val="126000"/>
              </a:lnSpc>
              <a:spcBef>
                <a:spcPts val="700"/>
              </a:spcBef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Skybox and image-based lighting.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4864608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5084064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 spc="-20">
                <a:solidFill>
                  <a:srgbClr val="E9A94B"/>
                </a:solidFill>
                <a:latin typeface="Helvetica Neue"/>
              </a:rPr>
              <a:t>~83%</a:t>
            </a:r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sz="1150" b="0" i="0">
                <a:solidFill>
                  <a:srgbClr val="7B8797"/>
                </a:solidFill>
                <a:latin typeface="Helvetica Neue"/>
              </a:rPr>
              <a:t>of the sphere is generated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5084064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 spc="-20">
                <a:solidFill>
                  <a:srgbClr val="E9A94B"/>
                </a:solidFill>
                <a:latin typeface="Helvetica Neue"/>
              </a:rPr>
              <a:t>3</a:t>
            </a:r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sz="1150" b="0" i="0">
                <a:solidFill>
                  <a:srgbClr val="7B8797"/>
                </a:solidFill>
                <a:latin typeface="Helvetica Neue"/>
              </a:rPr>
              <a:t>panoramas kept in parallel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5084064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 i="0" spc="-20">
                <a:solidFill>
                  <a:srgbClr val="E9A94B"/>
                </a:solidFill>
                <a:latin typeface="Helvetica Neue"/>
              </a:rPr>
              <a:t>2×</a:t>
            </a:r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sz="1150" b="0" i="0">
                <a:solidFill>
                  <a:srgbClr val="7B8797"/>
                </a:solidFill>
                <a:latin typeface="Helvetica Neue"/>
              </a:rPr>
              <a:t>region typing is run twice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METRIC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Relative depth, made metric — and made to fit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The panoramic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FITTING THE RESPONSE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5120640" cy="433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Panoramic depth is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relative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. The photograph's own metric depth calibrates it.</a:t>
            </a:r>
          </a:p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14 quantile bins, median knots, forced monotonic.</a:t>
            </a:r>
          </a:p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Past the fitted range, extrapolate in log-depth —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capped at 20×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. Uncapped it invented tens of kilometres.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572768"/>
            <a:ext cx="5148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E9A94B"/>
                </a:solidFill>
                <a:latin typeface="Helvetica Neue"/>
              </a:rPr>
              <a:t>FITTING THE TERRAIN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38528"/>
            <a:ext cx="5148072" cy="433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50" b="1" i="0">
                <a:solidFill>
                  <a:srgbClr val="E9A94B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Everything has to fit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D</a:t>
            </a:r>
            <a:r>
              <a:rPr sz="1053" b="1" i="0" baseline="-25000">
                <a:solidFill>
                  <a:srgbClr val="F2F4F7"/>
                </a:solidFill>
                <a:latin typeface="Helvetica Neue"/>
              </a:rPr>
              <a:t>max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 = 100 m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.</a:t>
            </a:r>
          </a:p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50" b="1" i="0">
                <a:solidFill>
                  <a:srgbClr val="E9A94B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A uniform rescale broke Rainier: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6.5×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, and the camera ended up buried in its own terrain.</a:t>
            </a:r>
          </a:p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50" b="1" i="0">
                <a:solidFill>
                  <a:srgbClr val="E9A94B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So compress only the far end.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The near field stays metric.</a:t>
            </a:r>
          </a:p>
        </p:txBody>
      </p:sp>
      <p:pic>
        <p:nvPicPr>
          <p:cNvPr id="12" name="Picture 11" descr="depth-calibrated.png"/>
          <p:cNvPicPr>
            <a:picLocks noChangeAspect="1"/>
          </p:cNvPicPr>
          <p:nvPr/>
        </p:nvPicPr>
        <p:blipFill>
          <a:blip r:embed="rId2"/>
          <a:srcRect t="32506" b="32506"/>
          <a:stretch>
            <a:fillRect/>
          </a:stretch>
        </p:blipFill>
        <p:spPr>
          <a:xfrm>
            <a:off x="658368" y="3749039"/>
            <a:ext cx="10872216" cy="1901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760720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Calibrated panoramic depth, near field bright. Past the treeline the raw prediction has saturated and the whole range collapses into a narrow band. Sky is masked out rather than assigned a depth.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TERRAIN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Measured ground is never modified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Terrain</a:t>
            </a:r>
          </a:p>
        </p:txBody>
      </p:sp>
      <p:pic>
        <p:nvPicPr>
          <p:cNvPr id="8" name="Picture 7" descr="heightmap-observ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572768"/>
            <a:ext cx="233172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041648"/>
            <a:ext cx="2487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 i="0">
                <a:solidFill>
                  <a:srgbClr val="F2F4F7"/>
                </a:solidFill>
                <a:latin typeface="Helvetica Neue"/>
              </a:rPr>
              <a:t>Projected observations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050" b="1" i="0">
                <a:solidFill>
                  <a:srgbClr val="E9A94B"/>
                </a:solidFill>
                <a:latin typeface="Helvetica Neue"/>
              </a:rPr>
              <a:t>7%</a:t>
            </a:r>
            <a:r>
              <a:rPr sz="1050" b="0" i="0">
                <a:solidFill>
                  <a:srgbClr val="7B8797"/>
                </a:solidFill>
                <a:latin typeface="Helvetica Neue"/>
              </a:rPr>
              <a:t> of the grid, around the camera.</a:t>
            </a:r>
          </a:p>
        </p:txBody>
      </p:sp>
      <p:pic>
        <p:nvPicPr>
          <p:cNvPr id="10" name="Picture 9" descr="heightmap-reconstruct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55848" y="1572768"/>
            <a:ext cx="233172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55848" y="4041648"/>
            <a:ext cx="2487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 i="0">
                <a:solidFill>
                  <a:srgbClr val="F2F4F7"/>
                </a:solidFill>
                <a:latin typeface="Helvetica Neue"/>
              </a:rPr>
              <a:t>Harmonic completion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7B8797"/>
                </a:solidFill>
                <a:latin typeface="Helvetica Neue"/>
              </a:rPr>
              <a:t>Measured cells are boundary conditions.</a:t>
            </a:r>
          </a:p>
        </p:txBody>
      </p:sp>
      <p:pic>
        <p:nvPicPr>
          <p:cNvPr id="12" name="Picture 11" descr="heightmap-er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53328" y="1572768"/>
            <a:ext cx="233172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53328" y="4041648"/>
            <a:ext cx="2487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 i="0">
                <a:solidFill>
                  <a:srgbClr val="F2F4F7"/>
                </a:solidFill>
                <a:latin typeface="Helvetica Neue"/>
              </a:rPr>
              <a:t>Erosion refinement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7B8797"/>
                </a:solidFill>
                <a:latin typeface="Helvetica Neue"/>
              </a:rPr>
              <a:t>Only where nothing was observed.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1572768"/>
            <a:ext cx="2642616" cy="470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1300"/>
              </a:spcAft>
            </a:pPr>
            <a:r>
              <a:rPr sz="12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A </a:t>
            </a:r>
            <a:r>
              <a:rPr sz="1250" b="1" i="0">
                <a:solidFill>
                  <a:srgbClr val="F2F4F7"/>
                </a:solidFill>
                <a:latin typeface="Helvetica Neue"/>
              </a:rPr>
              <a:t>4096²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 grid over 200 m.</a:t>
            </a:r>
          </a:p>
          <a:p>
            <a:pPr marL="173736" indent="-173736">
              <a:lnSpc>
                <a:spcPct val="122000"/>
              </a:lnSpc>
              <a:spcAft>
                <a:spcPts val="1300"/>
              </a:spcAft>
            </a:pPr>
            <a:r>
              <a:rPr sz="12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Every cell keeps the panorama pixel it was seen through.</a:t>
            </a:r>
          </a:p>
          <a:p>
            <a:pPr marL="173736" indent="-173736">
              <a:lnSpc>
                <a:spcPct val="122000"/>
              </a:lnSpc>
              <a:spcAft>
                <a:spcPts val="1300"/>
              </a:spcAft>
            </a:pPr>
            <a:r>
              <a:rPr sz="12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The solve never moves a measured cell.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5138928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532180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DE7358"/>
                </a:solidFill>
                <a:latin typeface="Helvetica Neue"/>
              </a:rPr>
              <a:t>DE-SPOKING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14416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8000"/>
              </a:lnSpc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Per-column depth bias becomes a radial streak — inside the observed data, where the solve cannot touch it. A tangential high-pass removes only the angular component: elevation profile unchanged, cliff mask bit-identical, mean change </a:t>
            </a:r>
            <a:r>
              <a:rPr sz="1200" b="1" i="0">
                <a:solidFill>
                  <a:srgbClr val="F2F4F7"/>
                </a:solidFill>
                <a:latin typeface="Helvetica Neue"/>
              </a:rPr>
              <a:t>0.19 m</a:t>
            </a:r>
            <a:r>
              <a:rPr sz="1200" b="0" i="0">
                <a:solidFill>
                  <a:srgbClr val="C2CAD5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TERRAIN — THE LOAD-BEARING ASSUMPTION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The sky boundary is assumed to be the crest of ground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Terrain</a:t>
            </a:r>
          </a:p>
        </p:txBody>
      </p:sp>
      <p:pic>
        <p:nvPicPr>
          <p:cNvPr id="8" name="Picture 7" descr="silhouett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572768"/>
            <a:ext cx="310896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791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The extracted sky silhouette, top-down over the 200 m grid.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664208"/>
            <a:ext cx="7370064" cy="460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20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Beyond depth range there is no measurement. The silhouette is the only signal left.</a:t>
            </a:r>
          </a:p>
          <a:p>
            <a:pPr marL="173736" indent="-173736">
              <a:lnSpc>
                <a:spcPct val="122000"/>
              </a:lnSpc>
              <a:spcAft>
                <a:spcPts val="20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Each column's first non-sky pixel becomes an elevation, placed at a fixed radius.</a:t>
            </a:r>
          </a:p>
          <a:p>
            <a:pPr marL="173736" indent="-173736">
              <a:lnSpc>
                <a:spcPct val="122000"/>
              </a:lnSpc>
              <a:spcAft>
                <a:spcPts val="20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A mountain kilometres away is </a:t>
            </a:r>
            <a:r>
              <a:rPr sz="1400" b="1" i="0">
                <a:solidFill>
                  <a:srgbClr val="F2F4F7"/>
                </a:solidFill>
                <a:latin typeface="Helvetica Neue"/>
              </a:rPr>
              <a:t>brought close and shrunk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: shape is preserved, distance is not.</a:t>
            </a:r>
          </a:p>
          <a:p>
            <a:pPr marL="173736" indent="-173736">
              <a:lnSpc>
                <a:spcPct val="122000"/>
              </a:lnSpc>
              <a:spcAft>
                <a:spcPts val="20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Erosion strength follows the same silhouette's jaggedness.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4882896"/>
            <a:ext cx="7370064" cy="969264"/>
          </a:xfrm>
          <a:prstGeom prst="roundRect">
            <a:avLst>
              <a:gd name="adj" fmla="val 6000"/>
            </a:avLst>
          </a:prstGeom>
          <a:solidFill>
            <a:srgbClr val="DE735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4882896"/>
            <a:ext cx="41148" cy="969264"/>
          </a:xfrm>
          <a:prstGeom prst="rect">
            <a:avLst/>
          </a:prstGeom>
          <a:solidFill>
            <a:srgbClr val="DE7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5010912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6000"/>
              </a:lnSpc>
            </a:pPr>
            <a:r>
              <a:rPr sz="1300" b="1" i="0">
                <a:solidFill>
                  <a:srgbClr val="DE7358"/>
                </a:solidFill>
                <a:latin typeface="Helvetica Neue"/>
              </a:rPr>
              <a:t>The assumption: that boundary is the crest of ground.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 It holds for Rainier and Shark Fin. It breaks Paris — slide 18.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TERRAIN APPEARANCE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Projection smears the ground; patterns do not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Terrain appearance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DE7358"/>
                </a:solidFill>
                <a:latin typeface="Helvetica Neue"/>
              </a:rPr>
              <a:t>WHY PROJECTION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3840480" cy="433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1600"/>
              </a:spcAft>
            </a:pPr>
            <a:r>
              <a:rPr sz="1300" b="1" i="0">
                <a:solidFill>
                  <a:srgbClr val="DE7358"/>
                </a:solidFill>
                <a:latin typeface="Helvetica Neue"/>
              </a:rPr>
              <a:t>— </a:t>
            </a:r>
            <a:r>
              <a:rPr sz="1300" b="1" i="0">
                <a:solidFill>
                  <a:srgbClr val="F2F4F7"/>
                </a:solidFill>
                <a:latin typeface="Helvetica Neue"/>
              </a:rPr>
              <a:t>Grazing incidence.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 At 80 m one panorama row covers </a:t>
            </a:r>
            <a:r>
              <a:rPr sz="1300" b="1" i="0">
                <a:solidFill>
                  <a:srgbClr val="F2F4F7"/>
                </a:solidFill>
                <a:latin typeface="Helvetica Neue"/>
              </a:rPr>
              <a:t>12 m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 of ground.</a:t>
            </a:r>
          </a:p>
          <a:p>
            <a:pPr marL="173736" indent="-173736">
              <a:lnSpc>
                <a:spcPct val="122000"/>
              </a:lnSpc>
              <a:spcAft>
                <a:spcPts val="1600"/>
              </a:spcAft>
            </a:pPr>
            <a:r>
              <a:rPr sz="1300" b="1" i="0">
                <a:solidFill>
                  <a:srgbClr val="DE7358"/>
                </a:solidFill>
                <a:latin typeface="Helvetica Neue"/>
              </a:rPr>
              <a:t>— </a:t>
            </a:r>
            <a:r>
              <a:rPr sz="1300" b="1" i="0">
                <a:solidFill>
                  <a:srgbClr val="F2F4F7"/>
                </a:solidFill>
                <a:latin typeface="Helvetica Neue"/>
              </a:rPr>
              <a:t>Upright content.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 A 0.5 m flower smears into a streak metres long — a radial pinwheel from above.</a:t>
            </a:r>
          </a:p>
        </p:txBody>
      </p:sp>
      <p:pic>
        <p:nvPicPr>
          <p:cNvPr id="10" name="Picture 9" descr="tile-terrain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09160" y="1572768"/>
            <a:ext cx="3017520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09160" y="470001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The baked terrain layer, top-down in texture 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572768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A LAYERED SPLAT MATERIAL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38528"/>
            <a:ext cx="3438144" cy="433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1600"/>
              </a:spcAft>
            </a:pPr>
            <a:r>
              <a:rPr sz="13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Real photographic colour only where projection is trustworthy.</a:t>
            </a:r>
          </a:p>
          <a:p>
            <a:pPr marL="173736" indent="-173736">
              <a:lnSpc>
                <a:spcPct val="122000"/>
              </a:lnSpc>
              <a:spcAft>
                <a:spcPts val="1600"/>
              </a:spcAft>
            </a:pPr>
            <a:r>
              <a:rPr sz="13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Otherwise </a:t>
            </a:r>
            <a:r>
              <a:rPr sz="1300" b="1" i="0">
                <a:solidFill>
                  <a:srgbClr val="F2F4F7"/>
                </a:solidFill>
                <a:latin typeface="Helvetica Neue"/>
              </a:rPr>
              <a:t>real material patches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, cut from the panorama and assembled over the mesh's triangles.</a:t>
            </a:r>
          </a:p>
          <a:p>
            <a:pPr marL="173736" indent="-173736">
              <a:lnSpc>
                <a:spcPct val="122000"/>
              </a:lnSpc>
              <a:spcAft>
                <a:spcPts val="1600"/>
              </a:spcAft>
            </a:pPr>
            <a:r>
              <a:rPr sz="13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Generated tiles only where no real reference exists.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5230368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5431536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8000"/>
              </a:lnSpc>
            </a:pPr>
            <a:r>
              <a:rPr sz="1200" b="0" i="0">
                <a:solidFill>
                  <a:srgbClr val="7B8797"/>
                </a:solidFill>
                <a:latin typeface="Helvetica Neue"/>
              </a:rPr>
              <a:t>Tiles are prompted as an </a:t>
            </a:r>
            <a:r>
              <a:rPr sz="1200" b="1" i="0">
                <a:solidFill>
                  <a:srgbClr val="C2CAD5"/>
                </a:solidFill>
                <a:latin typeface="Helvetica Neue"/>
              </a:rPr>
              <a:t>overhead flat lay under diffuse light</a:t>
            </a:r>
            <a:r>
              <a:rPr sz="1200" b="0" i="0">
                <a:solidFill>
                  <a:srgbClr val="7B8797"/>
                </a:solidFill>
                <a:latin typeface="Helvetica Neue"/>
              </a:rPr>
              <a:t>. The tile is an albedo the client will light — shading baked into it would be applied twice.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OBJECT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CLIP proposes; an independent model disposes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Objects</a:t>
            </a:r>
          </a:p>
        </p:txBody>
      </p:sp>
      <p:pic>
        <p:nvPicPr>
          <p:cNvPr id="8" name="Picture 7" descr="cluster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572768"/>
            <a:ext cx="694944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157216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Detections after appearance clustering, coloured by bucket. Segmentation runs on the panorama, so detections cover the full 360°.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1572768"/>
            <a:ext cx="3593592" cy="470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SAM 2 on the panorama, tiled and merged.</a:t>
            </a:r>
          </a:p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CLIP proposes a label; </a:t>
            </a:r>
            <a:r>
              <a:rPr sz="1300" b="1" i="0">
                <a:solidFill>
                  <a:srgbClr val="F2F4F7"/>
                </a:solidFill>
                <a:latin typeface="Helvetica Neue"/>
              </a:rPr>
              <a:t>Grounding DINO has to find it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 in the crop.</a:t>
            </a:r>
          </a:p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CLIP always ranks — with no real signal, something still wins.</a:t>
            </a:r>
          </a:p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Sub-clustered by DINOv2 appearance: flower colours, tree species.</a:t>
            </a:r>
          </a:p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Buckets are bounded. An unbounded cut gave </a:t>
            </a:r>
            <a:r>
              <a:rPr sz="1300" b="1" i="0">
                <a:solidFill>
                  <a:srgbClr val="F2F4F7"/>
                </a:solidFill>
                <a:latin typeface="Helvetica Neue"/>
              </a:rPr>
              <a:t>302 groups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563270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583387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7B8797"/>
                </a:solidFill>
                <a:latin typeface="Helvetica Neue"/>
              </a:rPr>
              <a:t>One mesh per (class, bucket), instanced at every member — reconstruction is paid per bucket, not per instance.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LEVEL OF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Resolvability decides the representation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3465576" cy="1572768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3465576" cy="32004"/>
          </a:xfrm>
          <a:prstGeom prst="rect">
            <a:avLst/>
          </a:prstGeom>
          <a:solidFill>
            <a:srgbClr val="6F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737360"/>
            <a:ext cx="2926080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>
                <a:solidFill>
                  <a:srgbClr val="7B8797"/>
                </a:solidFill>
                <a:latin typeface="Helvetica Neue"/>
              </a:rPr>
              <a:t>1   </a:t>
            </a:r>
            <a:r>
              <a:rPr sz="1500" b="1" i="0">
                <a:solidFill>
                  <a:srgbClr val="6FD2C0"/>
                </a:solidFill>
                <a:latin typeface="Helvetica Neue"/>
              </a:rPr>
              <a:t>Mesh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C2CAD5"/>
                </a:solidFill>
                <a:latin typeface="Helvetica Neue"/>
              </a:rPr>
              <a:t>reconstructed once per group, instanced — when it renders large enough to resolve as geometry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72768"/>
            <a:ext cx="3465576" cy="1572768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72768"/>
            <a:ext cx="3465576" cy="32004"/>
          </a:xfrm>
          <a:prstGeom prst="rect">
            <a:avLst/>
          </a:prstGeom>
          <a:solidFill>
            <a:srgbClr val="E9A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37360"/>
            <a:ext cx="2926080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>
                <a:solidFill>
                  <a:srgbClr val="7B8797"/>
                </a:solidFill>
                <a:latin typeface="Helvetica Neue"/>
              </a:rPr>
              <a:t>2   </a:t>
            </a:r>
            <a:r>
              <a:rPr sz="1500" b="1" i="0">
                <a:solidFill>
                  <a:srgbClr val="E9A94B"/>
                </a:solidFill>
                <a:latin typeface="Helvetica Neue"/>
              </a:rPr>
              <a:t>Crossed card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C2CAD5"/>
                </a:solidFill>
                <a:latin typeface="Helvetica Neue"/>
              </a:rPr>
              <a:t>three planes, twelve triangles; holds a silhouette from any angle, and inherits the sway rig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572768"/>
            <a:ext cx="3465576" cy="1572768"/>
          </a:xfrm>
          <a:prstGeom prst="roundRect">
            <a:avLst>
              <a:gd name="adj" fmla="val 7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2" y="1572768"/>
            <a:ext cx="3465576" cy="32004"/>
          </a:xfrm>
          <a:prstGeom prst="rect">
            <a:avLst/>
          </a:prstGeom>
          <a:solidFill>
            <a:srgbClr val="93A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2926080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>
                <a:solidFill>
                  <a:srgbClr val="7B8797"/>
                </a:solidFill>
                <a:latin typeface="Helvetica Neue"/>
              </a:rPr>
              <a:t>3   </a:t>
            </a:r>
            <a:r>
              <a:rPr sz="1500" b="1" i="0">
                <a:solidFill>
                  <a:srgbClr val="93A4B8"/>
                </a:solidFill>
                <a:latin typeface="Helvetica Neue"/>
              </a:rPr>
              <a:t>Billboard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50" b="0" i="0">
                <a:solidFill>
                  <a:srgbClr val="C2CAD5"/>
                </a:solidFill>
                <a:latin typeface="Helvetica Neue"/>
              </a:rPr>
              <a:t>one camera-facing quad. Last resort: in stereo it reads flat and swings with the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74720"/>
            <a:ext cx="5577840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Crop chosen by </a:t>
            </a:r>
            <a:r>
              <a:rPr sz="1300" b="1" i="0">
                <a:solidFill>
                  <a:srgbClr val="F2F4F7"/>
                </a:solidFill>
                <a:latin typeface="Helvetica Neue"/>
              </a:rPr>
              <a:t>resolution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, not score: too few pixels returns a different object — a flat sheet.</a:t>
            </a:r>
          </a:p>
          <a:p>
            <a:pPr marL="173736" indent="-173736">
              <a:lnSpc>
                <a:spcPct val="122000"/>
              </a:lnSpc>
              <a:spcAft>
                <a:spcPts val="1500"/>
              </a:spcAft>
            </a:pPr>
            <a:r>
              <a:rPr sz="13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Representation chosen by </a:t>
            </a:r>
            <a:r>
              <a:rPr sz="1300" b="1" i="0">
                <a:solidFill>
                  <a:srgbClr val="F2F4F7"/>
                </a:solidFill>
                <a:latin typeface="Helvetica Neue"/>
              </a:rPr>
              <a:t>projected angular size</a:t>
            </a:r>
            <a:r>
              <a:rPr sz="1300" b="0" i="0">
                <a:solidFill>
                  <a:srgbClr val="C2CAD5"/>
                </a:solidFill>
                <a:latin typeface="Helvetica Neue"/>
              </a:rPr>
              <a:t>, not distance.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3474720"/>
            <a:ext cx="5148072" cy="1517904"/>
          </a:xfrm>
          <a:prstGeom prst="roundRect">
            <a:avLst>
              <a:gd name="adj" fmla="val 6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3639312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 spc="140">
                <a:solidFill>
                  <a:srgbClr val="DE7358"/>
                </a:solidFill>
                <a:latin typeface="Helvetica Neue"/>
              </a:rPr>
              <a:t>WHY CARDS EXIST, AND ONLY FOR VEGETATION</a:t>
            </a:r>
          </a:p>
          <a:p>
            <a:pPr>
              <a:lnSpc>
                <a:spcPct val="126000"/>
              </a:lnSpc>
              <a:spcBef>
                <a:spcPts val="900"/>
              </a:spcBef>
            </a:pPr>
            <a:r>
              <a:rPr sz="1250" b="0" i="0">
                <a:solidFill>
                  <a:srgbClr val="C2CAD5"/>
                </a:solidFill>
                <a:latin typeface="Helvetica Neue"/>
              </a:rPr>
              <a:t>SAM 3D returns a conifer at </a:t>
            </a:r>
            <a:r>
              <a:rPr sz="1250" b="1" i="0">
                <a:solidFill>
                  <a:srgbClr val="E9A94B"/>
                </a:solidFill>
                <a:latin typeface="Helvetica Neue"/>
              </a:rPr>
              <a:t>3.50:1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 against detections at </a:t>
            </a:r>
            <a:r>
              <a:rPr sz="1250" b="1" i="0">
                <a:solidFill>
                  <a:srgbClr val="E9A94B"/>
                </a:solidFill>
                <a:latin typeface="Helvetica Neue"/>
              </a:rPr>
              <a:t>0.12:1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 — a 28× disagreement. 70 of 75 instances fall back to cards.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5230368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431536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 spc="-18">
                <a:solidFill>
                  <a:srgbClr val="E9A94B"/>
                </a:solidFill>
                <a:latin typeface="Helvetica Neue"/>
              </a:rPr>
              <a:t>128</a:t>
            </a:r>
          </a:p>
          <a:p>
            <a:pPr>
              <a:spcBef>
                <a:spcPts val="700"/>
              </a:spcBef>
            </a:pPr>
            <a:r>
              <a:rPr sz="1100" b="0" i="0">
                <a:solidFill>
                  <a:srgbClr val="7B8797"/>
                </a:solidFill>
                <a:latin typeface="Helvetica Neue"/>
              </a:rPr>
              <a:t>meshes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7" y="5431536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 spc="-18">
                <a:solidFill>
                  <a:srgbClr val="E9A94B"/>
                </a:solidFill>
                <a:latin typeface="Helvetica Neue"/>
              </a:rPr>
              <a:t>9,303</a:t>
            </a:r>
          </a:p>
          <a:p>
            <a:pPr>
              <a:spcBef>
                <a:spcPts val="700"/>
              </a:spcBef>
            </a:pPr>
            <a:r>
              <a:rPr sz="1100" b="0" i="0">
                <a:solidFill>
                  <a:srgbClr val="7B8797"/>
                </a:solidFill>
                <a:latin typeface="Helvetica Neue"/>
              </a:rPr>
              <a:t>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5431536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 spc="-18">
                <a:solidFill>
                  <a:srgbClr val="E9A94B"/>
                </a:solidFill>
                <a:latin typeface="Helvetica Neue"/>
              </a:rPr>
              <a:t>33</a:t>
            </a:r>
          </a:p>
          <a:p>
            <a:pPr>
              <a:spcBef>
                <a:spcPts val="700"/>
              </a:spcBef>
            </a:pPr>
            <a:r>
              <a:rPr sz="1100" b="0" i="0">
                <a:solidFill>
                  <a:srgbClr val="7B8797"/>
                </a:solidFill>
                <a:latin typeface="Helvetica Neue"/>
              </a:rPr>
              <a:t>billboards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5431536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 spc="-18">
                <a:solidFill>
                  <a:srgbClr val="E9A94B"/>
                </a:solidFill>
                <a:latin typeface="Helvetica Neue"/>
              </a:rPr>
              <a:t>2.48 M</a:t>
            </a:r>
          </a:p>
          <a:p>
            <a:pPr>
              <a:spcBef>
                <a:spcPts val="700"/>
              </a:spcBef>
            </a:pPr>
            <a:r>
              <a:rPr sz="1100" b="0" i="0">
                <a:solidFill>
                  <a:srgbClr val="7B8797"/>
                </a:solidFill>
                <a:latin typeface="Helvetica Neue"/>
              </a:rPr>
              <a:t>triangles, from 4.47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POPULATION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A detector finds tens of flowers in a meadow of thousands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Population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C2CAD5"/>
                </a:solidFill>
                <a:latin typeface="Helvetica Neue"/>
              </a:rPr>
              <a:t>Place only what was detected and the eye sees </a:t>
            </a:r>
            <a:r>
              <a:rPr sz="1600" b="1" i="0">
                <a:solidFill>
                  <a:srgbClr val="F2F4F7"/>
                </a:solidFill>
                <a:latin typeface="Helvetica Neue"/>
              </a:rPr>
              <a:t>the sampling pattern</a:t>
            </a:r>
            <a:r>
              <a:rPr sz="1600" b="0" i="0">
                <a:solidFill>
                  <a:srgbClr val="C2CAD5"/>
                </a:solidFill>
                <a:latin typeface="Helvetica Neue"/>
              </a:rPr>
              <a:t>, not the meadow.</a:t>
            </a:r>
          </a:p>
        </p:txBody>
      </p:sp>
      <p:pic>
        <p:nvPicPr>
          <p:cNvPr id="9" name="Picture 8" descr="synthesis-tre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2450592"/>
            <a:ext cx="2286000" cy="2286000"/>
          </a:xfrm>
          <a:prstGeom prst="rect">
            <a:avLst/>
          </a:prstGeom>
        </p:spPr>
      </p:pic>
      <p:pic>
        <p:nvPicPr>
          <p:cNvPr id="10" name="Picture 9" descr="zoom-grass-area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29984" y="2450592"/>
            <a:ext cx="22860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27248" y="2450592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6FD2C0"/>
                </a:solidFill>
                <a:latin typeface="Helvetica Neue"/>
              </a:rPr>
              <a:t>Population synthesis</a:t>
            </a:r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sz="1250" b="0" i="1">
                <a:solidFill>
                  <a:srgbClr val="C2CAD5"/>
                </a:solidFill>
                <a:latin typeface="Helvetica Neue"/>
              </a:rPr>
              <a:t>Where else would this class be?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 Match the measured pair-correlation over the rest of the admissible region.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450592"/>
            <a:ext cx="229514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8FC96B"/>
                </a:solidFill>
                <a:latin typeface="Helvetica Neue"/>
              </a:rPr>
              <a:t>Ground cover</a:t>
            </a:r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sz="1250" b="0" i="1">
                <a:solidFill>
                  <a:srgbClr val="C2CAD5"/>
                </a:solidFill>
                <a:latin typeface="Helvetica Neue"/>
              </a:rPr>
              <a:t>What is the ground made of?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 A mask, not instances — read from the </a:t>
            </a:r>
            <a:r>
              <a:rPr sz="1250" b="1" i="0">
                <a:solidFill>
                  <a:srgbClr val="F2F4F7"/>
                </a:solidFill>
                <a:latin typeface="Helvetica Neue"/>
              </a:rPr>
              <a:t>original</a:t>
            </a:r>
            <a:r>
              <a:rPr sz="1250" b="0" i="0">
                <a:solidFill>
                  <a:srgbClr val="C2CAD5"/>
                </a:solidFill>
                <a:latin typeface="Helvetica Neue"/>
              </a:rPr>
              <a:t> panorama, which still has its meadow.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809744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Synthesised tree population.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9984" y="4809744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Ground-cover mask (zoomed).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517550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537667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E9A94B"/>
                </a:solidFill>
                <a:latin typeface="Helvetica Neue"/>
              </a:rPr>
              <a:t>COLOUR SETTLES WHAT THE LABEL SET CANNOT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692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8000"/>
              </a:lnSpc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One ground class folds meadow together with snowfield. The </a:t>
            </a:r>
            <a:r>
              <a:rPr sz="1200" b="1" i="0">
                <a:solidFill>
                  <a:srgbClr val="F2F4F7"/>
                </a:solidFill>
                <a:latin typeface="Helvetica Neue"/>
              </a:rPr>
              <a:t>excess-green of each cell's own panorama pixel</a:t>
            </a:r>
            <a:r>
              <a:rPr sz="1200" b="0" i="0">
                <a:solidFill>
                  <a:srgbClr val="C2CAD5"/>
                </a:solidFill>
                <a:latin typeface="Helvetica Neue"/>
              </a:rPr>
              <a:t> separates them — then the same measurement weights the density.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LIGHTING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Estimate the light, then take it out of everything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Lighting and animation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6035040" cy="470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1700"/>
              </a:spcAft>
            </a:pPr>
            <a:r>
              <a:rPr sz="13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LuxDiT recovers an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HDR environment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 and a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dominant direction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. The client uses both.</a:t>
            </a:r>
          </a:p>
          <a:p>
            <a:pPr marL="173736" indent="-173736">
              <a:lnSpc>
                <a:spcPct val="122000"/>
              </a:lnSpc>
              <a:spcAft>
                <a:spcPts val="1700"/>
              </a:spcAft>
            </a:pPr>
            <a:r>
              <a:rPr sz="13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Every crop already carries the light of the day it was taken. Relighting it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doubles the illumination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.</a:t>
            </a:r>
          </a:p>
          <a:p>
            <a:pPr marL="173736" indent="-173736">
              <a:lnSpc>
                <a:spcPct val="122000"/>
              </a:lnSpc>
              <a:spcAft>
                <a:spcPts val="1700"/>
              </a:spcAft>
            </a:pPr>
            <a:r>
              <a:rPr sz="13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IntrinsicDiffusion de-lights crops, so what the client relights is material colour.</a:t>
            </a:r>
          </a:p>
          <a:p>
            <a:pPr marL="173736" indent="-173736">
              <a:lnSpc>
                <a:spcPct val="122000"/>
              </a:lnSpc>
              <a:spcAft>
                <a:spcPts val="1700"/>
              </a:spcAft>
            </a:pPr>
            <a:r>
              <a:rPr sz="13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That is also what makes assets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portable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 — synthesis puts them anywhere.</a:t>
            </a:r>
          </a:p>
        </p:txBody>
      </p:sp>
      <p:pic>
        <p:nvPicPr>
          <p:cNvPr id="9" name="Picture 8" descr="lighting-ld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59168" y="1572768"/>
            <a:ext cx="2194560" cy="1097280"/>
          </a:xfrm>
          <a:prstGeom prst="rect">
            <a:avLst/>
          </a:prstGeom>
        </p:spPr>
      </p:pic>
      <p:pic>
        <p:nvPicPr>
          <p:cNvPr id="10" name="Picture 9" descr="lighting-lo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36024" y="1572768"/>
            <a:ext cx="219456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59168" y="276148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Tone-mapped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6024" y="276148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Log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3072384"/>
            <a:ext cx="4471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The log view exposes the range the client samples: the sun is a compact lobe well above the sky around it.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4224528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440740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AND THE SKY ITSELF</a:t>
            </a:r>
          </a:p>
        </p:txBody>
      </p:sp>
      <p:pic>
        <p:nvPicPr>
          <p:cNvPr id="16" name="Picture 15" descr="sky.jpg"/>
          <p:cNvPicPr>
            <a:picLocks noChangeAspect="1"/>
          </p:cNvPicPr>
          <p:nvPr/>
        </p:nvPicPr>
        <p:blipFill>
          <a:blip r:embed="rId4"/>
          <a:srcRect t="39066" b="39066"/>
          <a:stretch>
            <a:fillRect/>
          </a:stretch>
        </p:blipFill>
        <p:spPr>
          <a:xfrm>
            <a:off x="658368" y="4718304"/>
            <a:ext cx="10872216" cy="1188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980176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The sky-inpainted panorama is skybox and image-based lighting source — one artefact doing two jobs.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ANIMATION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Motion is measured; the wind is authored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Lighting and animation</a:t>
            </a:r>
          </a:p>
        </p:txBody>
      </p:sp>
      <p:pic>
        <p:nvPicPr>
          <p:cNvPr id="8" name="Picture 7" descr="motion-26.jpg"/>
          <p:cNvPicPr>
            <a:picLocks noChangeAspect="1"/>
          </p:cNvPicPr>
          <p:nvPr/>
        </p:nvPicPr>
        <p:blipFill>
          <a:blip r:embed="rId2"/>
          <a:srcRect t="32" b="32"/>
          <a:stretch>
            <a:fillRect/>
          </a:stretch>
        </p:blipFill>
        <p:spPr>
          <a:xfrm>
            <a:off x="658368" y="1572768"/>
            <a:ext cx="932688" cy="1444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3090672"/>
            <a:ext cx="932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0 s</a:t>
            </a:r>
          </a:p>
        </p:txBody>
      </p:sp>
      <p:pic>
        <p:nvPicPr>
          <p:cNvPr id="10" name="Picture 9" descr="motion-54.jpg"/>
          <p:cNvPicPr>
            <a:picLocks noChangeAspect="1"/>
          </p:cNvPicPr>
          <p:nvPr/>
        </p:nvPicPr>
        <p:blipFill>
          <a:blip r:embed="rId3"/>
          <a:srcRect t="32" b="32"/>
          <a:stretch>
            <a:fillRect/>
          </a:stretch>
        </p:blipFill>
        <p:spPr>
          <a:xfrm>
            <a:off x="1719072" y="1572768"/>
            <a:ext cx="932688" cy="1444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19072" y="3090672"/>
            <a:ext cx="932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1.2 s</a:t>
            </a:r>
          </a:p>
        </p:txBody>
      </p:sp>
      <p:pic>
        <p:nvPicPr>
          <p:cNvPr id="12" name="Picture 11" descr="motion-82.jpg"/>
          <p:cNvPicPr>
            <a:picLocks noChangeAspect="1"/>
          </p:cNvPicPr>
          <p:nvPr/>
        </p:nvPicPr>
        <p:blipFill>
          <a:blip r:embed="rId4"/>
          <a:srcRect t="32" b="32"/>
          <a:stretch>
            <a:fillRect/>
          </a:stretch>
        </p:blipFill>
        <p:spPr>
          <a:xfrm>
            <a:off x="2779776" y="1572768"/>
            <a:ext cx="932688" cy="1444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79776" y="3090672"/>
            <a:ext cx="932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2.3 s</a:t>
            </a:r>
          </a:p>
        </p:txBody>
      </p:sp>
      <p:pic>
        <p:nvPicPr>
          <p:cNvPr id="14" name="Picture 13" descr="motion-120.jpg"/>
          <p:cNvPicPr>
            <a:picLocks noChangeAspect="1"/>
          </p:cNvPicPr>
          <p:nvPr/>
        </p:nvPicPr>
        <p:blipFill>
          <a:blip r:embed="rId5"/>
          <a:srcRect t="32" b="32"/>
          <a:stretch>
            <a:fillRect/>
          </a:stretch>
        </p:blipFill>
        <p:spPr>
          <a:xfrm>
            <a:off x="3840479" y="1572768"/>
            <a:ext cx="932688" cy="1444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40479" y="3090672"/>
            <a:ext cx="9326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3.9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3832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One tracked flower through the generated video. It tilts and recovers while staying in place — the signal that types it as anchored.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1572768"/>
            <a:ext cx="6647688" cy="470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1800"/>
              </a:spcAft>
            </a:pPr>
            <a:r>
              <a:rPr sz="13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LTX-2 video,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camera locked off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 — so drift is the object moving, not the camera.</a:t>
            </a:r>
          </a:p>
          <a:p>
            <a:pPr marL="173736" indent="-173736">
              <a:lnSpc>
                <a:spcPct val="122000"/>
              </a:lnSpc>
              <a:spcAft>
                <a:spcPts val="1800"/>
              </a:spcAft>
            </a:pPr>
            <a:r>
              <a:rPr sz="13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Drift under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60% of its own bounding-box diagonal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 means stationary.</a:t>
            </a:r>
          </a:p>
          <a:p>
            <a:pPr marL="173736" indent="-173736">
              <a:lnSpc>
                <a:spcPct val="122000"/>
              </a:lnSpc>
              <a:spcAft>
                <a:spcPts val="1800"/>
              </a:spcAft>
            </a:pPr>
            <a:r>
              <a:rPr sz="13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Stationary gets a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three-bone rig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. Timing is per instance, the skeleton is shared: a meadow stays one draw.</a:t>
            </a:r>
          </a:p>
          <a:p>
            <a:pPr marL="173736" indent="-173736">
              <a:lnSpc>
                <a:spcPct val="122000"/>
              </a:lnSpc>
              <a:spcAft>
                <a:spcPts val="1800"/>
              </a:spcAft>
            </a:pPr>
            <a:r>
              <a:rPr sz="135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Anything else is a </a:t>
            </a:r>
            <a:r>
              <a:rPr sz="1350" b="1" i="0">
                <a:solidFill>
                  <a:srgbClr val="F2F4F7"/>
                </a:solidFill>
                <a:latin typeface="Helvetica Neue"/>
              </a:rPr>
              <a:t>rigid body</a:t>
            </a:r>
            <a:r>
              <a:rPr sz="1350" b="0" i="0">
                <a:solidFill>
                  <a:srgbClr val="C2CAD5"/>
                </a:solidFill>
                <a:latin typeface="Helvetica Neue"/>
              </a:rPr>
              <a:t> — velocity and acceleration handed to physics.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3986784"/>
            <a:ext cx="3822192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4169663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ONE SHARED WIND FIELD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80560"/>
            <a:ext cx="4206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8000"/>
              </a:lnSpc>
            </a:pPr>
            <a:r>
              <a:rPr sz="1250" b="0" i="0">
                <a:solidFill>
                  <a:srgbClr val="C2CAD5"/>
                </a:solidFill>
                <a:latin typeface="Helvetica Neue"/>
              </a:rPr>
              <a:t>One global field, not per-object oscillators. A gust crosses the meadow and everything in its path answers in turn.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250" b="0" i="0">
                <a:solidFill>
                  <a:srgbClr val="7B8797"/>
                </a:solidFill>
                <a:latin typeface="Helvetica Neue"/>
              </a:rPr>
              <a:t>Still authored. Deriving it from the video is future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Three captures, chosen to break different assumptions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C2CAD5"/>
                </a:solidFill>
                <a:latin typeface="Helvetica Neue"/>
              </a:rPr>
              <a:t>No ground-truth 3D exists, so evaluation is </a:t>
            </a:r>
            <a:r>
              <a:rPr sz="1500" b="1" i="0">
                <a:solidFill>
                  <a:srgbClr val="F2F4F7"/>
                </a:solidFill>
                <a:latin typeface="Helvetica Neue"/>
              </a:rPr>
              <a:t>diagnostic</a:t>
            </a:r>
            <a:r>
              <a:rPr sz="1500" b="0" i="0">
                <a:solidFill>
                  <a:srgbClr val="C2CAD5"/>
                </a:solidFill>
                <a:latin typeface="Helvetica Neue"/>
              </a:rPr>
              <a:t>: instrument, measure, and localise each defect to a stage.</a:t>
            </a:r>
          </a:p>
        </p:txBody>
      </p:sp>
      <p:pic>
        <p:nvPicPr>
          <p:cNvPr id="9" name="Picture 8" descr="rainier-scene.png"/>
          <p:cNvPicPr>
            <a:picLocks noChangeAspect="1"/>
          </p:cNvPicPr>
          <p:nvPr/>
        </p:nvPicPr>
        <p:blipFill>
          <a:blip r:embed="rId2"/>
          <a:srcRect t="3918" b="3918"/>
          <a:stretch>
            <a:fillRect/>
          </a:stretch>
        </p:blipFill>
        <p:spPr>
          <a:xfrm>
            <a:off x="658368" y="2249424"/>
            <a:ext cx="3465576" cy="1947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315968"/>
            <a:ext cx="346557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6FD2C0"/>
                </a:solidFill>
                <a:latin typeface="Helvetica Neue"/>
              </a:rPr>
              <a:t>Mount Rainier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7B8797"/>
                </a:solidFill>
                <a:latin typeface="Helvetica Neue"/>
              </a:rPr>
              <a:t>alpine meadow, dense vegetation, snow</a:t>
            </a:r>
          </a:p>
          <a:p>
            <a:pPr>
              <a:spcBef>
                <a:spcPts val="1100"/>
              </a:spcBef>
            </a:pPr>
            <a:r>
              <a:rPr sz="1150" b="1" i="0">
                <a:solidFill>
                  <a:srgbClr val="F2F4F7"/>
                </a:solidFill>
                <a:latin typeface="Helvetica Neue"/>
              </a:rPr>
              <a:t>128 / 9,303 / 33</a:t>
            </a:r>
            <a:r>
              <a:rPr sz="1000" b="0" i="0">
                <a:solidFill>
                  <a:srgbClr val="7B8797"/>
                </a:solidFill>
                <a:latin typeface="Helvetica Neue"/>
              </a:rPr>
              <a:t>   mesh / card / billboard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F2F4F7"/>
                </a:solidFill>
                <a:latin typeface="Helvetica Neue"/>
              </a:rPr>
              <a:t>+35 m</a:t>
            </a:r>
            <a:r>
              <a:rPr sz="1000" b="0" i="0">
                <a:solidFill>
                  <a:srgbClr val="7B8797"/>
                </a:solidFill>
                <a:latin typeface="Helvetica Neue"/>
              </a:rPr>
              <a:t>   relief added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100" b="1" i="0">
                <a:solidFill>
                  <a:srgbClr val="DE7358"/>
                </a:solidFill>
                <a:latin typeface="Helvetica Neue"/>
              </a:rPr>
              <a:t>Breaks on:  </a:t>
            </a:r>
            <a:r>
              <a:rPr sz="1100" b="0" i="0">
                <a:solidFill>
                  <a:srgbClr val="C2CAD5"/>
                </a:solidFill>
                <a:latin typeface="Helvetica Neue"/>
              </a:rPr>
              <a:t>Conifer reconstruction</a:t>
            </a:r>
          </a:p>
        </p:txBody>
      </p:sp>
      <p:pic>
        <p:nvPicPr>
          <p:cNvPr id="11" name="Picture 10" descr="paris-scene.png"/>
          <p:cNvPicPr>
            <a:picLocks noChangeAspect="1"/>
          </p:cNvPicPr>
          <p:nvPr/>
        </p:nvPicPr>
        <p:blipFill>
          <a:blip r:embed="rId3"/>
          <a:srcRect t="3918" b="3918"/>
          <a:stretch>
            <a:fillRect/>
          </a:stretch>
        </p:blipFill>
        <p:spPr>
          <a:xfrm>
            <a:off x="4343400" y="2249424"/>
            <a:ext cx="3465576" cy="1947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43400" y="4315968"/>
            <a:ext cx="346557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E9A94B"/>
                </a:solidFill>
                <a:latin typeface="Helvetica Neue"/>
              </a:rPr>
              <a:t>Paris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7B8797"/>
                </a:solidFill>
                <a:latin typeface="Helvetica Neue"/>
              </a:rPr>
              <a:t>flat urban river scene, architecture</a:t>
            </a:r>
          </a:p>
          <a:p>
            <a:pPr>
              <a:spcBef>
                <a:spcPts val="1100"/>
              </a:spcBef>
            </a:pPr>
            <a:r>
              <a:rPr sz="1150" b="1" i="0">
                <a:solidFill>
                  <a:srgbClr val="F2F4F7"/>
                </a:solidFill>
                <a:latin typeface="Helvetica Neue"/>
              </a:rPr>
              <a:t>27 / 4 / 56</a:t>
            </a:r>
            <a:r>
              <a:rPr sz="1000" b="0" i="0">
                <a:solidFill>
                  <a:srgbClr val="7B8797"/>
                </a:solidFill>
                <a:latin typeface="Helvetica Neue"/>
              </a:rPr>
              <a:t>   mesh / card / billboard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F2F4F7"/>
                </a:solidFill>
                <a:latin typeface="Helvetica Neue"/>
              </a:rPr>
              <a:t>+78 m</a:t>
            </a:r>
            <a:r>
              <a:rPr sz="1000" b="0" i="0">
                <a:solidFill>
                  <a:srgbClr val="7B8797"/>
                </a:solidFill>
                <a:latin typeface="Helvetica Neue"/>
              </a:rPr>
              <a:t>   relief added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100" b="1" i="0">
                <a:solidFill>
                  <a:srgbClr val="DE7358"/>
                </a:solidFill>
                <a:latin typeface="Helvetica Neue"/>
              </a:rPr>
              <a:t>Breaks on:  </a:t>
            </a:r>
            <a:r>
              <a:rPr sz="1100" b="0" i="0">
                <a:solidFill>
                  <a:srgbClr val="C2CAD5"/>
                </a:solidFill>
                <a:latin typeface="Helvetica Neue"/>
              </a:rPr>
              <a:t>Skyline read as landform</a:t>
            </a:r>
          </a:p>
        </p:txBody>
      </p:sp>
      <p:pic>
        <p:nvPicPr>
          <p:cNvPr id="13" name="Picture 12" descr="sharkfin-scene.png"/>
          <p:cNvPicPr>
            <a:picLocks noChangeAspect="1"/>
          </p:cNvPicPr>
          <p:nvPr/>
        </p:nvPicPr>
        <p:blipFill>
          <a:blip r:embed="rId4"/>
          <a:srcRect t="3918" b="3918"/>
          <a:stretch>
            <a:fillRect/>
          </a:stretch>
        </p:blipFill>
        <p:spPr>
          <a:xfrm>
            <a:off x="8028432" y="2249424"/>
            <a:ext cx="3465576" cy="1947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28432" y="4315968"/>
            <a:ext cx="346557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6EA8E0"/>
                </a:solidFill>
                <a:latin typeface="Helvetica Neue"/>
              </a:rPr>
              <a:t>Shark Fin Cove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7B8797"/>
                </a:solidFill>
                <a:latin typeface="Helvetica Neue"/>
              </a:rPr>
              <a:t>coastal cliffs, open water, sea stacks</a:t>
            </a:r>
          </a:p>
          <a:p>
            <a:pPr>
              <a:spcBef>
                <a:spcPts val="1100"/>
              </a:spcBef>
            </a:pPr>
            <a:r>
              <a:rPr sz="1150" b="1" i="0">
                <a:solidFill>
                  <a:srgbClr val="F2F4F7"/>
                </a:solidFill>
                <a:latin typeface="Helvetica Neue"/>
              </a:rPr>
              <a:t>0 / 1 / 42</a:t>
            </a:r>
            <a:r>
              <a:rPr sz="1000" b="0" i="0">
                <a:solidFill>
                  <a:srgbClr val="7B8797"/>
                </a:solidFill>
                <a:latin typeface="Helvetica Neue"/>
              </a:rPr>
              <a:t>   mesh / card / billboard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F2F4F7"/>
                </a:solidFill>
                <a:latin typeface="Helvetica Neue"/>
              </a:rPr>
              <a:t>+81 m</a:t>
            </a:r>
            <a:r>
              <a:rPr sz="1000" b="0" i="0">
                <a:solidFill>
                  <a:srgbClr val="7B8797"/>
                </a:solidFill>
                <a:latin typeface="Helvetica Neue"/>
              </a:rPr>
              <a:t>   relief added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100" b="1" i="0">
                <a:solidFill>
                  <a:srgbClr val="DE7358"/>
                </a:solidFill>
                <a:latin typeface="Helvetica Neue"/>
              </a:rPr>
              <a:t>Breaks on:  </a:t>
            </a:r>
            <a:r>
              <a:rPr sz="1100" b="0" i="0">
                <a:solidFill>
                  <a:srgbClr val="C2CAD5"/>
                </a:solidFill>
                <a:latin typeface="Helvetica Neue"/>
              </a:rPr>
              <a:t>Detections are rock fragments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Every failure localises to an assumption, not a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PARIS HEIGHT FIELD</a:t>
            </a:r>
          </a:p>
        </p:txBody>
      </p:sp>
      <p:pic>
        <p:nvPicPr>
          <p:cNvPr id="9" name="Picture 8" descr="paris-panel-0.png"/>
          <p:cNvPicPr>
            <a:picLocks noChangeAspect="1"/>
          </p:cNvPicPr>
          <p:nvPr/>
        </p:nvPicPr>
        <p:blipFill>
          <a:blip r:embed="rId2"/>
          <a:srcRect l="60" r="60"/>
          <a:stretch>
            <a:fillRect/>
          </a:stretch>
        </p:blipFill>
        <p:spPr>
          <a:xfrm>
            <a:off x="658368" y="1865376"/>
            <a:ext cx="1737360" cy="1737360"/>
          </a:xfrm>
          <a:prstGeom prst="rect">
            <a:avLst/>
          </a:prstGeom>
        </p:spPr>
      </p:pic>
      <p:pic>
        <p:nvPicPr>
          <p:cNvPr id="10" name="Picture 9" descr="paris-panel-1.png"/>
          <p:cNvPicPr>
            <a:picLocks noChangeAspect="1"/>
          </p:cNvPicPr>
          <p:nvPr/>
        </p:nvPicPr>
        <p:blipFill>
          <a:blip r:embed="rId3"/>
          <a:srcRect l="60" r="60"/>
          <a:stretch>
            <a:fillRect/>
          </a:stretch>
        </p:blipFill>
        <p:spPr>
          <a:xfrm>
            <a:off x="2487168" y="1865376"/>
            <a:ext cx="1737360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3712463"/>
            <a:ext cx="37490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Measured: −6.0 to −0.2 m, correctly flat. After ridge anchoring: −13.1 to +70.9 m. Hill </a:t>
            </a:r>
            <a:r>
              <a:rPr sz="900" b="1" i="0">
                <a:solidFill>
                  <a:srgbClr val="F2F4F7"/>
                </a:solidFill>
                <a:latin typeface="Helvetica Neue"/>
              </a:rPr>
              <a:t>A</a:t>
            </a:r>
            <a:r>
              <a:rPr sz="900" b="0" i="0">
                <a:solidFill>
                  <a:srgbClr val="7B8797"/>
                </a:solidFill>
                <a:latin typeface="Helvetica Neue"/>
              </a:rPr>
              <a:t> is the right-bank treeline, </a:t>
            </a:r>
            <a:r>
              <a:rPr sz="900" b="1" i="0">
                <a:solidFill>
                  <a:srgbClr val="F2F4F7"/>
                </a:solidFill>
                <a:latin typeface="Helvetica Neue"/>
              </a:rPr>
              <a:t>B</a:t>
            </a:r>
            <a:r>
              <a:rPr sz="900" b="0" i="0">
                <a:solidFill>
                  <a:srgbClr val="7B8797"/>
                </a:solidFill>
                <a:latin typeface="Helvetica Neue"/>
              </a:rPr>
              <a:t> the cathedral. One shared shading scale.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90288" y="1408176"/>
            <a:ext cx="6943039" cy="0"/>
          </a:xfrm>
          <a:prstGeom prst="line">
            <a:avLst/>
          </a:prstGeom>
          <a:ln w="9525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90288" y="1554480"/>
            <a:ext cx="69402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F2F4F7"/>
                </a:solidFill>
                <a:latin typeface="Helvetica Neue"/>
              </a:rPr>
              <a:t>Skyline read as landform</a:t>
            </a:r>
          </a:p>
          <a:p>
            <a:pPr>
              <a:lnSpc>
                <a:spcPct val="126000"/>
              </a:lnSpc>
              <a:spcBef>
                <a:spcPts val="600"/>
              </a:spcBef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Terrain-typed silhouette columns: </a:t>
            </a:r>
            <a:r>
              <a:rPr sz="1200" b="1" i="0">
                <a:solidFill>
                  <a:srgbClr val="E9A94B"/>
                </a:solidFill>
                <a:latin typeface="Helvetica Neue"/>
              </a:rPr>
              <a:t>Paris 0%</a:t>
            </a:r>
            <a:r>
              <a:rPr sz="1200" b="0" i="0">
                <a:solidFill>
                  <a:srgbClr val="C2CAD5"/>
                </a:solidFill>
                <a:latin typeface="Helvetica Neue"/>
              </a:rPr>
              <a:t>, Rainier 98%, Shark Fin 100%. Not one column of Paris's horizon is a landform.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90288" y="2560320"/>
            <a:ext cx="6943039" cy="0"/>
          </a:xfrm>
          <a:prstGeom prst="line">
            <a:avLst/>
          </a:prstGeom>
          <a:ln w="9525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90288" y="2706624"/>
            <a:ext cx="69402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F2F4F7"/>
                </a:solidFill>
                <a:latin typeface="Helvetica Neue"/>
              </a:rPr>
              <a:t>Confident misclassification on texture</a:t>
            </a:r>
          </a:p>
          <a:p>
            <a:pPr>
              <a:lnSpc>
                <a:spcPct val="126000"/>
              </a:lnSpc>
              <a:spcBef>
                <a:spcPts val="600"/>
              </a:spcBef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49 detections at </a:t>
            </a:r>
            <a:r>
              <a:rPr sz="1200" b="1" i="0">
                <a:solidFill>
                  <a:srgbClr val="E9A94B"/>
                </a:solidFill>
                <a:latin typeface="Helvetica Neue"/>
              </a:rPr>
              <a:t>median confidence 0.95</a:t>
            </a:r>
            <a:r>
              <a:rPr sz="1200" b="0" i="0">
                <a:solidFill>
                  <a:srgbClr val="C2CAD5"/>
                </a:solidFill>
                <a:latin typeface="Helvetica Neue"/>
              </a:rPr>
              <a:t>. A rock typed </a:t>
            </a:r>
            <a:r>
              <a:rPr sz="1200" b="0" i="1">
                <a:solidFill>
                  <a:srgbClr val="C2CAD5"/>
                </a:solidFill>
                <a:latin typeface="Helvetica Neue"/>
              </a:rPr>
              <a:t>person</a:t>
            </a:r>
            <a:r>
              <a:rPr sz="1200" b="0" i="0">
                <a:solidFill>
                  <a:srgbClr val="C2CAD5"/>
                </a:solidFill>
                <a:latin typeface="Helvetica Neue"/>
              </a:rPr>
              <a:t>, captioned “a piece of pizza with bacon on it”.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90288" y="3712463"/>
            <a:ext cx="6943039" cy="0"/>
          </a:xfrm>
          <a:prstGeom prst="line">
            <a:avLst/>
          </a:prstGeom>
          <a:ln w="9525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90288" y="3858768"/>
            <a:ext cx="69402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F2F4F7"/>
                </a:solidFill>
                <a:latin typeface="Helvetica Neue"/>
              </a:rPr>
              <a:t>Water followed the terrain beneath it</a:t>
            </a:r>
          </a:p>
          <a:p>
            <a:pPr>
              <a:lnSpc>
                <a:spcPct val="126000"/>
              </a:lnSpc>
              <a:spcBef>
                <a:spcPts val="600"/>
              </a:spcBef>
            </a:pPr>
            <a:r>
              <a:rPr sz="1200" b="0" i="0">
                <a:solidFill>
                  <a:srgbClr val="C2CAD5"/>
                </a:solidFill>
                <a:latin typeface="Helvetica Neue"/>
              </a:rPr>
              <a:t>One </a:t>
            </a:r>
            <a:r>
              <a:rPr sz="1200" b="1" i="0">
                <a:solidFill>
                  <a:srgbClr val="E9A94B"/>
                </a:solidFill>
                <a:latin typeface="Helvetica Neue"/>
              </a:rPr>
              <a:t>11,872 m²</a:t>
            </a:r>
            <a:r>
              <a:rPr sz="1200" b="0" i="0">
                <a:solidFill>
                  <a:srgbClr val="C2CAD5"/>
                </a:solidFill>
                <a:latin typeface="Helvetica Neue"/>
              </a:rPr>
              <a:t> body of sea spanning </a:t>
            </a:r>
            <a:r>
              <a:rPr sz="1200" b="1" i="0">
                <a:solidFill>
                  <a:srgbClr val="E9A94B"/>
                </a:solidFill>
                <a:latin typeface="Helvetica Neue"/>
              </a:rPr>
              <a:t>73.5 m</a:t>
            </a:r>
            <a:r>
              <a:rPr sz="1200" b="0" i="0">
                <a:solidFill>
                  <a:srgbClr val="C2CAD5"/>
                </a:solidFill>
                <a:latin typeface="Helvetica Neue"/>
              </a:rPr>
              <a:t> of elevation. The ocean draped up the cliffs.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90288" y="4864607"/>
            <a:ext cx="6943039" cy="0"/>
          </a:xfrm>
          <a:prstGeom prst="line">
            <a:avLst/>
          </a:prstGeom>
          <a:ln w="9525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90288" y="5010912"/>
            <a:ext cx="69402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F2F4F7"/>
                </a:solidFill>
                <a:latin typeface="Helvetica Neue"/>
              </a:rPr>
              <a:t>Far-field texel density</a:t>
            </a:r>
          </a:p>
          <a:p>
            <a:pPr>
              <a:lnSpc>
                <a:spcPct val="126000"/>
              </a:lnSpc>
              <a:spcBef>
                <a:spcPts val="600"/>
              </a:spcBef>
            </a:pPr>
            <a:r>
              <a:rPr sz="1200" b="1" i="0">
                <a:solidFill>
                  <a:srgbClr val="E9A94B"/>
                </a:solidFill>
                <a:latin typeface="Helvetica Neue"/>
              </a:rPr>
              <a:t>67.8%</a:t>
            </a:r>
            <a:r>
              <a:rPr sz="1200" b="0" i="0">
                <a:solidFill>
                  <a:srgbClr val="C2CAD5"/>
                </a:solidFill>
                <a:latin typeface="Helvetica Neue"/>
              </a:rPr>
              <a:t> of Shark Fin's terrain over 0.5 m per texel, against 20.9%. Within 25 m the captures are indistinguishable.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1208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8000"/>
              </a:lnSpc>
            </a:pPr>
            <a:r>
              <a:rPr sz="1150" b="0" i="0">
                <a:solidFill>
                  <a:srgbClr val="7B8797"/>
                </a:solidFill>
                <a:latin typeface="Helvetica Neue"/>
              </a:rPr>
              <a:t>A defect can surface far from its cause: size compression starts in depth calibration and shows up </a:t>
            </a:r>
            <a:r>
              <a:rPr sz="1150" b="1" i="0">
                <a:solidFill>
                  <a:srgbClr val="C2CAD5"/>
                </a:solidFill>
                <a:latin typeface="Helvetica Neue"/>
              </a:rPr>
              <a:t>eight stages later</a:t>
            </a:r>
            <a:r>
              <a:rPr sz="1150" b="0" i="0">
                <a:solidFill>
                  <a:srgbClr val="7B8797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Make the premise testable, not the threshold tunable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C2CAD5"/>
                </a:solidFill>
                <a:latin typeface="Helvetica Neue"/>
              </a:rPr>
              <a:t>Each fix makes an implicit premise </a:t>
            </a:r>
            <a:r>
              <a:rPr sz="1400" b="1" i="0">
                <a:solidFill>
                  <a:srgbClr val="F2F4F7"/>
                </a:solidFill>
                <a:latin typeface="Helvetica Neue"/>
              </a:rPr>
              <a:t>testable from evidence already computed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 — and is measured on every capture, not just the one that motivated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3230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 spc="120">
                <a:solidFill>
                  <a:srgbClr val="7B8797"/>
                </a:solidFill>
                <a:latin typeface="Helvetica Neue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432304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 spc="120">
                <a:solidFill>
                  <a:srgbClr val="7B8797"/>
                </a:solidFill>
                <a:latin typeface="Helvetica Neue"/>
              </a:rPr>
              <a:t>PREMISE MADE TESTABLE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2432304"/>
            <a:ext cx="4361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 spc="120">
                <a:solidFill>
                  <a:srgbClr val="7B8797"/>
                </a:solidFill>
                <a:latin typeface="Helvetica Neue"/>
              </a:rPr>
              <a:t>MEASURED EFFECT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27066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28346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 i="0">
                <a:solidFill>
                  <a:srgbClr val="F2F4F7"/>
                </a:solidFill>
                <a:latin typeface="Helvetica Neue"/>
              </a:rPr>
              <a:t>Silhouette composition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8346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1">
                <a:solidFill>
                  <a:srgbClr val="7B8797"/>
                </a:solidFill>
                <a:latin typeface="Helvetica Neue"/>
              </a:rPr>
              <a:t>The sky boundary is the crest of 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8896" y="2834640"/>
            <a:ext cx="4361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0">
                <a:solidFill>
                  <a:srgbClr val="C2CAD5"/>
                </a:solidFill>
                <a:latin typeface="Helvetica Neue"/>
              </a:rPr>
              <a:t>0% / 98% / 100%. Suppressed on Paris only; others bit-identical.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209544"/>
            <a:ext cx="10874959" cy="0"/>
          </a:xfrm>
          <a:prstGeom prst="line">
            <a:avLst/>
          </a:prstGeom>
          <a:ln w="6350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32826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 i="0">
                <a:solidFill>
                  <a:srgbClr val="F2F4F7"/>
                </a:solidFill>
                <a:latin typeface="Helvetica Neue"/>
              </a:rPr>
              <a:t>Per-crop region plausibility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282696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1">
                <a:solidFill>
                  <a:srgbClr val="7B8797"/>
                </a:solidFill>
                <a:latin typeface="Helvetica Neue"/>
              </a:rPr>
              <a:t>This class can occupy the region its box sits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3282696"/>
            <a:ext cx="4361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0">
                <a:solidFill>
                  <a:srgbClr val="C2CAD5"/>
                </a:solidFill>
                <a:latin typeface="Helvetica Neue"/>
              </a:rPr>
              <a:t>Removes 9 / 4 / 12 detections. No false positives.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3657600"/>
            <a:ext cx="10874959" cy="0"/>
          </a:xfrm>
          <a:prstGeom prst="line">
            <a:avLst/>
          </a:prstGeom>
          <a:ln w="6350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373075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 i="0">
                <a:solidFill>
                  <a:srgbClr val="F2F4F7"/>
                </a:solidFill>
                <a:latin typeface="Helvetica Neue"/>
              </a:rPr>
              <a:t>Caption–scene plausibility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373075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1">
                <a:solidFill>
                  <a:srgbClr val="7B8797"/>
                </a:solidFill>
                <a:latin typeface="Helvetica Neue"/>
              </a:rPr>
              <a:t>The caption describes something this scene can contain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3730752"/>
            <a:ext cx="4361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0">
                <a:solidFill>
                  <a:srgbClr val="C2CAD5"/>
                </a:solidFill>
                <a:latin typeface="Helvetica Neue"/>
              </a:rPr>
              <a:t>A further 2 / 9 / 16. Needs four conjunctive conditions.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4105656"/>
            <a:ext cx="10874959" cy="0"/>
          </a:xfrm>
          <a:prstGeom prst="line">
            <a:avLst/>
          </a:prstGeom>
          <a:ln w="6350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417880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 i="0">
                <a:solidFill>
                  <a:srgbClr val="F2F4F7"/>
                </a:solidFill>
                <a:latin typeface="Helvetica Neue"/>
              </a:rPr>
              <a:t>Water surface levelling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17880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1">
                <a:solidFill>
                  <a:srgbClr val="7B8797"/>
                </a:solidFill>
                <a:latin typeface="Helvetica Neue"/>
              </a:rPr>
              <a:t>The ground beneath water is flat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8896" y="4178808"/>
            <a:ext cx="4361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0">
                <a:solidFill>
                  <a:srgbClr val="C2CAD5"/>
                </a:solidFill>
                <a:latin typeface="Helvetica Neue"/>
              </a:rPr>
              <a:t>Shark Fin 73.5 m spread down to 0.00 m; shoreline step 0.14 m.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4553712"/>
            <a:ext cx="10874959" cy="0"/>
          </a:xfrm>
          <a:prstGeom prst="line">
            <a:avLst/>
          </a:prstGeom>
          <a:ln w="6350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462686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 i="0">
                <a:solidFill>
                  <a:srgbClr val="F2F4F7"/>
                </a:solidFill>
                <a:latin typeface="Helvetica Neue"/>
              </a:rPr>
              <a:t>Projected-size level of detail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1024" y="4626864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1">
                <a:solidFill>
                  <a:srgbClr val="7B8797"/>
                </a:solidFill>
                <a:latin typeface="Helvetica Neue"/>
              </a:rPr>
              <a:t>Distance predicts resolvability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626864"/>
            <a:ext cx="4361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0">
                <a:solidFill>
                  <a:srgbClr val="C2CAD5"/>
                </a:solidFill>
                <a:latin typeface="Helvetica Neue"/>
              </a:rPr>
              <a:t>Rainier 545 meshes down to 296; 4.47 M triangles to 2.48 M.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5001768"/>
            <a:ext cx="10874959" cy="0"/>
          </a:xfrm>
          <a:prstGeom prst="line">
            <a:avLst/>
          </a:prstGeom>
          <a:ln w="6350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50749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 i="0">
                <a:solidFill>
                  <a:srgbClr val="F2F4F7"/>
                </a:solidFill>
                <a:latin typeface="Helvetica Neue"/>
              </a:rPr>
              <a:t>Resolution-based crop selection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1024" y="50749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1">
                <a:solidFill>
                  <a:srgbClr val="7B8797"/>
                </a:solidFill>
                <a:latin typeface="Helvetica Neue"/>
              </a:rPr>
              <a:t>The best-scoring crop is the best reconstruction 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5074920"/>
            <a:ext cx="4361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0">
                <a:solidFill>
                  <a:srgbClr val="C2CAD5"/>
                </a:solidFill>
                <a:latin typeface="Helvetica Neue"/>
              </a:rPr>
              <a:t>Crop area up 1.0–9.2×. 205 of 471 instances had been degenerate.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5449824"/>
            <a:ext cx="10874959" cy="0"/>
          </a:xfrm>
          <a:prstGeom prst="line">
            <a:avLst/>
          </a:prstGeom>
          <a:ln w="6350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552297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 i="0">
                <a:solidFill>
                  <a:srgbClr val="F2F4F7"/>
                </a:solidFill>
                <a:latin typeface="Helvetica Neue"/>
              </a:rPr>
              <a:t>Geometric UV-fold repair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21024" y="5522976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1">
                <a:solidFill>
                  <a:srgbClr val="7B8797"/>
                </a:solidFill>
                <a:latin typeface="Helvetica Neue"/>
              </a:rPr>
              <a:t>Adjacent grid cells observed adjacent panorama rows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8896" y="5522976"/>
            <a:ext cx="4361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0">
                <a:solidFill>
                  <a:srgbClr val="C2CAD5"/>
                </a:solidFill>
                <a:latin typeface="Helvetica Neue"/>
              </a:rPr>
              <a:t>5,624 triangles collapsed on Rainier (7.0%). Face count unchanged.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5897880"/>
            <a:ext cx="10874959" cy="0"/>
          </a:xfrm>
          <a:prstGeom prst="line">
            <a:avLst/>
          </a:prstGeom>
          <a:ln w="6350">
            <a:solidFill>
              <a:srgbClr val="1E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597103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 i="0">
                <a:solidFill>
                  <a:srgbClr val="F2F4F7"/>
                </a:solidFill>
                <a:latin typeface="Helvetica Neue"/>
              </a:rPr>
              <a:t>Occluder-footprint inpainting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21024" y="597103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1">
                <a:solidFill>
                  <a:srgbClr val="7B8797"/>
                </a:solidFill>
                <a:latin typeface="Helvetica Neue"/>
              </a:rPr>
              <a:t>What foreground removal left behind is ground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8896" y="5971032"/>
            <a:ext cx="4361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 i="0">
                <a:solidFill>
                  <a:srgbClr val="C2CAD5"/>
                </a:solidFill>
                <a:latin typeface="Helvetica Neue"/>
              </a:rPr>
              <a:t>Fabricated fill below the horizon: 23.9% down to 17.1%.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Learned models answer </a:t>
            </a:r>
            <a:r>
              <a:rPr sz="2700" b="0" i="1" spc="-8">
                <a:solidFill>
                  <a:srgbClr val="F2F4F7"/>
                </a:solidFill>
                <a:latin typeface="Helvetica Neue"/>
              </a:rPr>
              <a:t>what</a:t>
            </a:r>
            <a:r>
              <a:rPr sz="2700" b="0" i="0" spc="-8">
                <a:solidFill>
                  <a:srgbClr val="F2F4F7"/>
                </a:solidFill>
                <a:latin typeface="Helvetica Neue"/>
              </a:rPr>
              <a:t>; classical methods decide </a:t>
            </a:r>
            <a:r>
              <a:rPr sz="2700" b="0" i="1" spc="-8">
                <a:solidFill>
                  <a:srgbClr val="F2F4F7"/>
                </a:solidFill>
                <a:latin typeface="Helvetica Neue"/>
              </a:rPr>
              <a:t>how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Conclusions and 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6126480" cy="4645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3736" indent="-173736">
              <a:lnSpc>
                <a:spcPct val="122000"/>
              </a:lnSpc>
              <a:spcAft>
                <a:spcPts val="19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Learned and classical, roughly </a:t>
            </a:r>
            <a:r>
              <a:rPr sz="1400" b="1" i="0">
                <a:solidFill>
                  <a:srgbClr val="F2F4F7"/>
                </a:solidFill>
                <a:latin typeface="Helvetica Neue"/>
              </a:rPr>
              <a:t>two to one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 by stage count.</a:t>
            </a:r>
          </a:p>
          <a:p>
            <a:pPr marL="173736" indent="-173736">
              <a:lnSpc>
                <a:spcPct val="122000"/>
              </a:lnSpc>
              <a:spcAft>
                <a:spcPts val="19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Generative models supply what was never observed. Nothing classical can.</a:t>
            </a:r>
          </a:p>
          <a:p>
            <a:pPr marL="173736" indent="-173736">
              <a:lnSpc>
                <a:spcPct val="122000"/>
              </a:lnSpc>
              <a:spcAft>
                <a:spcPts val="19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They do not supply a collidable surface, a samplable density, or a mesh with a skeleton in it.</a:t>
            </a:r>
          </a:p>
          <a:p>
            <a:pPr marL="173736" indent="-173736">
              <a:lnSpc>
                <a:spcPct val="122000"/>
              </a:lnSpc>
              <a:spcAft>
                <a:spcPts val="19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1" i="0">
                <a:solidFill>
                  <a:srgbClr val="F2F4F7"/>
                </a:solidFill>
                <a:latin typeface="Helvetica Neue"/>
              </a:rPr>
              <a:t>12 of 38 active stages use no learned model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 — and those are the ones producing behaviour.</a:t>
            </a:r>
          </a:p>
          <a:p>
            <a:pPr marL="173736" indent="-173736">
              <a:lnSpc>
                <a:spcPct val="122000"/>
              </a:lnSpc>
              <a:spcAft>
                <a:spcPts val="1900"/>
              </a:spcAft>
            </a:pPr>
            <a:r>
              <a:rPr sz="1400" b="1" i="0">
                <a:solidFill>
                  <a:srgbClr val="6FD2C0"/>
                </a:solidFill>
                <a:latin typeface="Helvetica Neue"/>
              </a:rPr>
              <a:t>— 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The surviving defects are </a:t>
            </a:r>
            <a:r>
              <a:rPr sz="1400" b="1" i="0">
                <a:solidFill>
                  <a:srgbClr val="F2F4F7"/>
                </a:solidFill>
                <a:latin typeface="Helvetica Neue"/>
              </a:rPr>
              <a:t>assumption failures, not model failures</a:t>
            </a:r>
            <a:r>
              <a:rPr sz="1400" b="0" i="0">
                <a:solidFill>
                  <a:srgbClr val="C2CAD5"/>
                </a:solidFill>
                <a:latin typeface="Helvetica Neue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1517904"/>
            <a:ext cx="4471416" cy="3913632"/>
          </a:xfrm>
          <a:prstGeom prst="roundRect">
            <a:avLst>
              <a:gd name="adj" fmla="val 5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0064" y="1700784"/>
            <a:ext cx="3886200" cy="3547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 spc="140">
                <a:solidFill>
                  <a:srgbClr val="E9A94B"/>
                </a:solidFill>
                <a:latin typeface="Helvetica Neue"/>
              </a:rPr>
              <a:t>FUTURE WORK</a:t>
            </a:r>
          </a:p>
          <a:p>
            <a:pPr marL="128016" indent="-128016">
              <a:lnSpc>
                <a:spcPct val="122000"/>
              </a:lnSpc>
              <a:spcBef>
                <a:spcPts val="1300"/>
              </a:spcBef>
            </a:pPr>
            <a:r>
              <a:rPr sz="1250" b="1" i="0">
                <a:solidFill>
                  <a:srgbClr val="F2F4F7"/>
                </a:solidFill>
                <a:latin typeface="Helvetica Neue"/>
              </a:rPr>
              <a:t>Explicit scene classification  </a:t>
            </a:r>
            <a:r>
              <a:rPr sz="1250" b="0" i="0">
                <a:solidFill>
                  <a:srgbClr val="7B8797"/>
                </a:solidFill>
                <a:latin typeface="Helvetica Neue"/>
              </a:rPr>
              <a:t>so no stage assumes a scene type</a:t>
            </a:r>
          </a:p>
          <a:p>
            <a:pPr marL="128016" indent="-128016">
              <a:lnSpc>
                <a:spcPct val="122000"/>
              </a:lnSpc>
              <a:spcBef>
                <a:spcPts val="1300"/>
              </a:spcBef>
            </a:pPr>
            <a:r>
              <a:rPr sz="1250" b="1" i="0">
                <a:solidFill>
                  <a:srgbClr val="F2F4F7"/>
                </a:solidFill>
                <a:latin typeface="Helvetica Neue"/>
              </a:rPr>
              <a:t>Confidence propagation  </a:t>
            </a:r>
            <a:r>
              <a:rPr sz="1250" b="0" i="0">
                <a:solidFill>
                  <a:srgbClr val="7B8797"/>
                </a:solidFill>
                <a:latin typeface="Helvetica Neue"/>
              </a:rPr>
              <a:t>so the system can say where it is guessing</a:t>
            </a:r>
          </a:p>
          <a:p>
            <a:pPr marL="128016" indent="-128016">
              <a:lnSpc>
                <a:spcPct val="122000"/>
              </a:lnSpc>
              <a:spcBef>
                <a:spcPts val="1300"/>
              </a:spcBef>
            </a:pPr>
            <a:r>
              <a:rPr sz="1250" b="1" i="0">
                <a:solidFill>
                  <a:srgbClr val="F2F4F7"/>
                </a:solidFill>
                <a:latin typeface="Helvetica Neue"/>
              </a:rPr>
              <a:t>Thin-structure reconstruction  </a:t>
            </a:r>
            <a:r>
              <a:rPr sz="1250" b="0" i="0">
                <a:solidFill>
                  <a:srgbClr val="7B8797"/>
                </a:solidFill>
                <a:latin typeface="Helvetica Neue"/>
              </a:rPr>
              <a:t>species-aware priors for vegetation</a:t>
            </a:r>
          </a:p>
          <a:p>
            <a:pPr marL="128016" indent="-128016">
              <a:lnSpc>
                <a:spcPct val="122000"/>
              </a:lnSpc>
              <a:spcBef>
                <a:spcPts val="1300"/>
              </a:spcBef>
            </a:pPr>
            <a:r>
              <a:rPr sz="1250" b="1" i="0">
                <a:solidFill>
                  <a:srgbClr val="F2F4F7"/>
                </a:solidFill>
                <a:latin typeface="Helvetica Neue"/>
              </a:rPr>
              <a:t>Joint refinement  </a:t>
            </a:r>
            <a:r>
              <a:rPr sz="1250" b="0" i="0">
                <a:solidFill>
                  <a:srgbClr val="7B8797"/>
                </a:solidFill>
                <a:latin typeface="Helvetica Neue"/>
              </a:rPr>
              <a:t>depth, geometry and placement together</a:t>
            </a:r>
          </a:p>
          <a:p>
            <a:pPr marL="128016" indent="-128016">
              <a:lnSpc>
                <a:spcPct val="122000"/>
              </a:lnSpc>
              <a:spcBef>
                <a:spcPts val="1300"/>
              </a:spcBef>
            </a:pPr>
            <a:r>
              <a:rPr sz="1250" b="1" i="0">
                <a:solidFill>
                  <a:srgbClr val="F2F4F7"/>
                </a:solidFill>
                <a:latin typeface="Helvetica Neue"/>
              </a:rPr>
              <a:t>Perceptual evaluation  </a:t>
            </a:r>
            <a:r>
              <a:rPr sz="1250" b="0" i="0">
                <a:solidFill>
                  <a:srgbClr val="7B8797"/>
                </a:solidFill>
                <a:latin typeface="Helvetica Neue"/>
              </a:rPr>
              <a:t>a user study — our clearest gap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5614416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58155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C2CAD5"/>
                </a:solidFill>
                <a:latin typeface="Helvetica Neue"/>
              </a:rPr>
              <a:t>The boundaries are legible and measurable. Addressing them means </a:t>
            </a:r>
            <a:r>
              <a:rPr sz="1500" b="1" i="0">
                <a:solidFill>
                  <a:srgbClr val="6FD2C0"/>
                </a:solidFill>
                <a:latin typeface="Helvetica Neue"/>
              </a:rPr>
              <a:t>making implicit commitments explicit</a:t>
            </a:r>
            <a:r>
              <a:rPr sz="1500" b="0" i="0">
                <a:solidFill>
                  <a:srgbClr val="C2CAD5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 spc="140">
                <a:solidFill>
                  <a:srgbClr val="6FD2C0"/>
                </a:solidFill>
                <a:latin typeface="Helvetica Neue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 spc="-8">
                <a:solidFill>
                  <a:srgbClr val="F2F4F7"/>
                </a:solidFill>
                <a:latin typeface="Helvetica Neue"/>
              </a:rPr>
              <a:t>Work this builds 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35024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3247" y="638251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797"/>
                </a:solidFill>
                <a:latin typeface="Helvetica Neue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 spc="60">
                <a:solidFill>
                  <a:srgbClr val="5A6472"/>
                </a:solidFill>
                <a:latin typeface="Helvetica Neue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3529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 spc="110">
                <a:solidFill>
                  <a:srgbClr val="6FD2C0"/>
                </a:solidFill>
                <a:latin typeface="Helvetica Neue"/>
              </a:rPr>
              <a:t>PANORAMA AND SCENE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352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Kalischek et al. 2025 — CubeDiff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Huang et al. 2025 — DreamCube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Paliwal et al. 2025 — PanoDreamer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Yang et al. 2025 — LayerPano3D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Xie 2025 — WorldGen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Schnepf et al. 2026 — SphericalDreamer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Jin et al. 2026 — SonoWorld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Wu et al. 2026 — 360Anything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24681"/>
            <a:ext cx="3529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 spc="110">
                <a:solidFill>
                  <a:srgbClr val="6FD2C0"/>
                </a:solidFill>
                <a:latin typeface="Helvetica Neue"/>
              </a:rPr>
              <a:t>DEPTH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880713"/>
            <a:ext cx="35295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Lin et al. 2025 — Depth Anything 3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Lin et al. 2025 — Depth Any Panoramas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35424"/>
            <a:ext cx="3529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 spc="110">
                <a:solidFill>
                  <a:srgbClr val="6FD2C0"/>
                </a:solidFill>
                <a:latin typeface="Helvetica Neue"/>
              </a:rPr>
              <a:t>IMAGE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791456"/>
            <a:ext cx="35295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Esser et al. 2024 — Rectified flow transformers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Rombach et al. 2022 — Latent diffusion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Conde et al. 2022 — Swin2SR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572768"/>
            <a:ext cx="3529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 spc="110">
                <a:solidFill>
                  <a:srgbClr val="E9A94B"/>
                </a:solidFill>
                <a:latin typeface="Helvetica Neue"/>
              </a:rPr>
              <a:t>SEGMENTATION, DETECTION,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28800"/>
            <a:ext cx="352958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Ravi et al. 2025 — SAM 2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Liu et al. 2024 — Grounding DINO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Radford et al. 2021 — CLIP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Li et al. 2022 — BLIP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Xiao et al. 2024 — Florence-2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Zhang et al. 2024 — Recognize Anything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Huang et al. 2024 — Tag2Text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Huang et al. 2025 — RAM++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Xie et al. 2021 — SegFormer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Zheng et al. 2024 — BiRefNet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Oquab et al. 2024 — DINOv2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195267"/>
            <a:ext cx="3529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 spc="110">
                <a:solidFill>
                  <a:srgbClr val="E9A94B"/>
                </a:solidFill>
                <a:latin typeface="Helvetica Neue"/>
              </a:rPr>
              <a:t>LIGHTING AND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451299"/>
            <a:ext cx="35295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Liang et al. 2025 — LuxDiT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Luo et al. 2024 — IntrinsicDiffusion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Lightricks 2026 — LTX-2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1572768"/>
            <a:ext cx="3529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 spc="110">
                <a:solidFill>
                  <a:srgbClr val="8FC96B"/>
                </a:solidFill>
                <a:latin typeface="Helvetica Neue"/>
              </a:rPr>
              <a:t>TERRAIN, TEXTURE AND ARRANGEMENT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2" y="1828800"/>
            <a:ext cx="352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Jain et al. 2026 — Pixels2Peaks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Génevaux et al. 2015 — Terrain from feature primitives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Barazandeh et al. 2025 — Earthbender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Emilien et al. 2015 — WorldBrush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Barnhart 2020; Hobley 2017; Hutton 2020 — Landlab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Neyret &amp; Cani 1999 — Pattern-based texturing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Geyer &amp; Møller 1994 — Spatial point processes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Hurtut et al. 2009 — Element arrangement by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3624681"/>
            <a:ext cx="3529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 spc="110">
                <a:solidFill>
                  <a:srgbClr val="8FC96B"/>
                </a:solidFill>
                <a:latin typeface="Helvetica Neue"/>
              </a:rPr>
              <a:t>OBJECT RECONSTRUCTION AND INPAINTING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3880713"/>
            <a:ext cx="352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SAM 3D Team 2025 — SAM 3D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Huang et al. 2025 — SPAR3D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Xiang et al. 2025 — TRELLIS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Suvorov et al. 2022 — LaMa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Li et al. 2022 — MAT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Yu et al. 2023 — Inpaint Anything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Zhao et al. 2026 — ObjectClear</a:t>
            </a:r>
          </a:p>
          <a:p>
            <a:pPr marL="109728" indent="-109728">
              <a:lnSpc>
                <a:spcPct val="116000"/>
              </a:lnSpc>
              <a:spcAft>
                <a:spcPts val="300"/>
              </a:spcAft>
            </a:pPr>
            <a:r>
              <a:rPr sz="950" b="0" i="0">
                <a:solidFill>
                  <a:srgbClr val="C2CAD5"/>
                </a:solidFill>
                <a:latin typeface="Helvetica Neue"/>
              </a:rPr>
              <a:t>Lee et al. 2024 — Tree-D Fusion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5888736"/>
            <a:ext cx="10874959" cy="0"/>
          </a:xfrm>
          <a:prstGeom prst="line">
            <a:avLst/>
          </a:prstGeom>
          <a:ln w="9525">
            <a:solidFill>
              <a:srgbClr val="2C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05332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B8797"/>
                </a:solidFill>
                <a:latin typeface="Helvetica Neue"/>
              </a:rPr>
              <a:t>Full bibliography — 46 entries — in the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